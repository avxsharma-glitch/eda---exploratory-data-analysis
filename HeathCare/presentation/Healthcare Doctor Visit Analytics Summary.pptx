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 Bold" charset="1" panose="00000800000000000000"/>
      <p:regular r:id="rId16"/>
    </p:embeddedFont>
    <p:embeddedFont>
      <p:font typeface="Poppins" charset="1" panose="00000500000000000000"/>
      <p:regular r:id="rId17"/>
    </p:embeddedFont>
    <p:embeddedFont>
      <p:font typeface="Bricolage Grotesque" charset="1" panose="020B0605040402000204"/>
      <p:regular r:id="rId18"/>
    </p:embeddedFont>
    <p:embeddedFont>
      <p:font typeface="Bricolage Grotesque Bold" charset="1" panose="020B0605040402000204"/>
      <p:regular r:id="rId19"/>
    </p:embeddedFont>
    <p:embeddedFont>
      <p:font typeface="Canva Sans Bold" charset="1" panose="020B08030305010401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9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15882" cy="10287000"/>
            <a:chOff x="0" y="0"/>
            <a:chExt cx="636282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6282" cy="2709333"/>
            </a:xfrm>
            <a:custGeom>
              <a:avLst/>
              <a:gdLst/>
              <a:ahLst/>
              <a:cxnLst/>
              <a:rect r="r" b="b" t="t" l="l"/>
              <a:pathLst>
                <a:path h="2709333" w="636282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035550" y="-3560876"/>
            <a:ext cx="9332069" cy="18164612"/>
          </a:xfrm>
          <a:custGeom>
            <a:avLst/>
            <a:gdLst/>
            <a:ahLst/>
            <a:cxnLst/>
            <a:rect r="r" b="b" t="t" l="l"/>
            <a:pathLst>
              <a:path h="18164612" w="9332069">
                <a:moveTo>
                  <a:pt x="0" y="0"/>
                </a:moveTo>
                <a:lnTo>
                  <a:pt x="9332070" y="0"/>
                </a:lnTo>
                <a:lnTo>
                  <a:pt x="9332070" y="18164612"/>
                </a:lnTo>
                <a:lnTo>
                  <a:pt x="0" y="181646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39956" y="1028700"/>
            <a:ext cx="735971" cy="710546"/>
          </a:xfrm>
          <a:custGeom>
            <a:avLst/>
            <a:gdLst/>
            <a:ahLst/>
            <a:cxnLst/>
            <a:rect r="r" b="b" t="t" l="l"/>
            <a:pathLst>
              <a:path h="710546" w="735971">
                <a:moveTo>
                  <a:pt x="0" y="0"/>
                </a:moveTo>
                <a:lnTo>
                  <a:pt x="735970" y="0"/>
                </a:lnTo>
                <a:lnTo>
                  <a:pt x="735970" y="710546"/>
                </a:lnTo>
                <a:lnTo>
                  <a:pt x="0" y="7105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320099" y="7330105"/>
            <a:ext cx="2772573" cy="1872812"/>
            <a:chOff x="0" y="0"/>
            <a:chExt cx="3696764" cy="2497082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385418"/>
              <a:ext cx="134591" cy="134591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104775"/>
                <a:ext cx="660400" cy="631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308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506484" y="47625"/>
              <a:ext cx="2749098" cy="3812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869"/>
                </a:lnSpc>
              </a:pPr>
              <a:r>
                <a:rPr lang="en-US" b="true" sz="2149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PRESENTED BY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506484" y="536670"/>
              <a:ext cx="3190280" cy="6901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869"/>
                </a:lnSpc>
              </a:pPr>
              <a:r>
                <a:rPr lang="en-US" sz="2149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"/>
                  <a:ea typeface="Poppins"/>
                  <a:cs typeface="Poppins"/>
                  <a:sym typeface="Poppins"/>
                </a:rPr>
                <a:t>Aryan Vishwakarma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506484" y="1323462"/>
              <a:ext cx="2749098" cy="3812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869"/>
                </a:lnSpc>
              </a:pPr>
              <a:r>
                <a:rPr lang="en-US" b="true" sz="2149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DEPARTMENT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506484" y="1806966"/>
              <a:ext cx="3190280" cy="6901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869"/>
                </a:lnSpc>
              </a:pPr>
              <a:r>
                <a:rPr lang="en-US" sz="2149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"/>
                  <a:ea typeface="Poppins"/>
                  <a:cs typeface="Poppins"/>
                  <a:sym typeface="Poppins"/>
                </a:rPr>
                <a:t>Healthcare Analytics</a:t>
              </a:r>
            </a:p>
          </p:txBody>
        </p:sp>
        <p:grpSp>
          <p:nvGrpSpPr>
            <p:cNvPr name="Group 15" id="15"/>
            <p:cNvGrpSpPr/>
            <p:nvPr/>
          </p:nvGrpSpPr>
          <p:grpSpPr>
            <a:xfrm rot="0">
              <a:off x="0" y="1661082"/>
              <a:ext cx="134591" cy="134591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104775"/>
                <a:ext cx="660400" cy="631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308"/>
                  </a:lnSpc>
                </a:pPr>
              </a:p>
            </p:txBody>
          </p:sp>
        </p:grpSp>
      </p:grpSp>
      <p:sp>
        <p:nvSpPr>
          <p:cNvPr name="TextBox 18" id="18"/>
          <p:cNvSpPr txBox="true"/>
          <p:nvPr/>
        </p:nvSpPr>
        <p:spPr>
          <a:xfrm rot="0">
            <a:off x="3320099" y="955532"/>
            <a:ext cx="5996813" cy="4263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79"/>
              </a:lnSpc>
            </a:pPr>
            <a:r>
              <a:rPr lang="en-US" sz="8448" spc="-540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Healthcare</a:t>
            </a:r>
          </a:p>
          <a:p>
            <a:pPr algn="l" marL="0" indent="0" lvl="0">
              <a:lnSpc>
                <a:spcPts val="8279"/>
              </a:lnSpc>
            </a:pPr>
            <a:r>
              <a:rPr lang="en-US" sz="8448" spc="-540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Analytics</a:t>
            </a:r>
          </a:p>
          <a:p>
            <a:pPr algn="l" marL="0" indent="0" lvl="0">
              <a:lnSpc>
                <a:spcPts val="8279"/>
              </a:lnSpc>
            </a:pPr>
            <a:r>
              <a:rPr lang="en-US" sz="8448" spc="-540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for Doctor</a:t>
            </a:r>
          </a:p>
          <a:p>
            <a:pPr algn="l" marL="0" indent="0" lvl="0">
              <a:lnSpc>
                <a:spcPts val="8279"/>
              </a:lnSpc>
            </a:pPr>
            <a:r>
              <a:rPr lang="en-US" sz="8448" spc="-540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Visits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20099" y="5551934"/>
            <a:ext cx="5696631" cy="111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67"/>
              </a:lnSpc>
            </a:pPr>
            <a:r>
              <a:rPr lang="en-US" sz="2318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Exploratory Data Analysis using Python, Pandas, NumPy, Matplotlib, Seaborn, and Google Colab.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50972" y="1968832"/>
            <a:ext cx="1704171" cy="342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19"/>
              </a:lnSpc>
            </a:pPr>
            <a:r>
              <a:rPr lang="en-US" b="true" sz="226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Ingoude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60740" y="2310991"/>
            <a:ext cx="1704171" cy="342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19"/>
              </a:lnSpc>
            </a:pPr>
            <a:r>
              <a:rPr lang="en-US" sz="226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Company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360740" y="8287049"/>
            <a:ext cx="1713939" cy="684264"/>
            <a:chOff x="0" y="0"/>
            <a:chExt cx="2285252" cy="912352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0"/>
              <a:ext cx="2272228" cy="4561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419"/>
                </a:lnSpc>
              </a:pPr>
              <a:r>
                <a:rPr lang="en-US" b="true" sz="226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2030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3024" y="456176"/>
              <a:ext cx="2272228" cy="4561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419"/>
                </a:lnSpc>
              </a:pPr>
              <a:r>
                <a:rPr lang="en-US" sz="226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Insights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666284"/>
            <a:ext cx="47625" cy="2040668"/>
            <a:chOff x="0" y="0"/>
            <a:chExt cx="12543" cy="5374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537460"/>
            </a:xfrm>
            <a:custGeom>
              <a:avLst/>
              <a:gdLst/>
              <a:ahLst/>
              <a:cxnLst/>
              <a:rect r="r" b="b" t="t" l="l"/>
              <a:pathLst>
                <a:path h="537460" w="12543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438046" y="129"/>
            <a:ext cx="1849954" cy="1848037"/>
            <a:chOff x="0" y="0"/>
            <a:chExt cx="2466605" cy="246405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466605" cy="2464050"/>
              <a:chOff x="0" y="0"/>
              <a:chExt cx="787566" cy="78675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787566" cy="786750"/>
              </a:xfrm>
              <a:custGeom>
                <a:avLst/>
                <a:gdLst/>
                <a:ahLst/>
                <a:cxnLst/>
                <a:rect r="r" b="b" t="t" l="l"/>
                <a:pathLst>
                  <a:path h="786750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319164" y="694049"/>
              <a:ext cx="1828278" cy="11997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421"/>
                </a:lnSpc>
              </a:pPr>
              <a:r>
                <a:rPr lang="en-US" sz="6552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02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8548631" y="1700081"/>
            <a:ext cx="8723766" cy="7295249"/>
          </a:xfrm>
          <a:custGeom>
            <a:avLst/>
            <a:gdLst/>
            <a:ahLst/>
            <a:cxnLst/>
            <a:rect r="r" b="b" t="t" l="l"/>
            <a:pathLst>
              <a:path h="7295249" w="8723766">
                <a:moveTo>
                  <a:pt x="0" y="0"/>
                </a:moveTo>
                <a:lnTo>
                  <a:pt x="8723766" y="0"/>
                </a:lnTo>
                <a:lnTo>
                  <a:pt x="8723766" y="7295249"/>
                </a:lnTo>
                <a:lnTo>
                  <a:pt x="0" y="72952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28700" y="4407668"/>
            <a:ext cx="6730921" cy="379246"/>
            <a:chOff x="0" y="0"/>
            <a:chExt cx="8974562" cy="505662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49117"/>
              <a:ext cx="8974562" cy="5547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16"/>
                </a:lnSpc>
              </a:pPr>
              <a:r>
                <a:rPr lang="en-US" b="true" sz="2368" spc="-59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OBJECTIVE &amp; ANALYTICAL QUESTIONS</a:t>
              </a:r>
            </a:p>
          </p:txBody>
        </p:sp>
        <p:sp>
          <p:nvSpPr>
            <p:cNvPr name="Freeform 13" id="13"/>
            <p:cNvSpPr/>
            <p:nvPr/>
          </p:nvSpPr>
          <p:spPr>
            <a:xfrm flipH="false" flipV="false" rot="-8687136">
              <a:off x="8443725" y="44820"/>
              <a:ext cx="252200" cy="304858"/>
            </a:xfrm>
            <a:custGeom>
              <a:avLst/>
              <a:gdLst/>
              <a:ahLst/>
              <a:cxnLst/>
              <a:rect r="r" b="b" t="t" l="l"/>
              <a:pathLst>
                <a:path h="304858" w="252200">
                  <a:moveTo>
                    <a:pt x="0" y="0"/>
                  </a:moveTo>
                  <a:lnTo>
                    <a:pt x="252200" y="0"/>
                  </a:lnTo>
                  <a:lnTo>
                    <a:pt x="252200" y="304857"/>
                  </a:lnTo>
                  <a:lnTo>
                    <a:pt x="0" y="304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56766" y="1546639"/>
            <a:ext cx="5412331" cy="2489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6"/>
              </a:lnSpc>
            </a:pPr>
            <a:r>
              <a:rPr lang="en-US" sz="9792" spc="-626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Project Overview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5352257"/>
            <a:ext cx="6570559" cy="3597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243"/>
              </a:lnSpc>
            </a:pPr>
            <a:r>
              <a:rPr lang="en-US" sz="1602" spc="-4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Objective: Analyze the key factors influencing the number of doctor visits using a real-world healthcare dataset of 5,190 patient records.</a:t>
            </a:r>
          </a:p>
          <a:p>
            <a:pPr algn="just" marL="0" indent="0" lvl="0">
              <a:lnSpc>
                <a:spcPts val="2243"/>
              </a:lnSpc>
            </a:pPr>
            <a:r>
              <a:rPr lang="en-US" sz="1602" spc="-4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Analytical Questions:</a:t>
            </a:r>
          </a:p>
          <a:p>
            <a:pPr algn="just" marL="0" indent="0" lvl="0">
              <a:lnSpc>
                <a:spcPts val="2243"/>
              </a:lnSpc>
            </a:pPr>
            <a:r>
              <a:rPr lang="en-US" sz="1602" spc="-4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• What demographic factors (age, gender) affect visit frequency?</a:t>
            </a:r>
          </a:p>
          <a:p>
            <a:pPr algn="just" marL="0" indent="0" lvl="0">
              <a:lnSpc>
                <a:spcPts val="2243"/>
              </a:lnSpc>
            </a:pPr>
            <a:r>
              <a:rPr lang="en-US" sz="1602" spc="-4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• How do health status and chronic conditions relate to visits?</a:t>
            </a:r>
          </a:p>
          <a:p>
            <a:pPr algn="just" marL="0" indent="0" lvl="0">
              <a:lnSpc>
                <a:spcPts val="2243"/>
              </a:lnSpc>
            </a:pPr>
            <a:r>
              <a:rPr lang="en-US" sz="1602" spc="-4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• Does income or insurance coverage influence healthcare utilization?</a:t>
            </a:r>
          </a:p>
          <a:p>
            <a:pPr algn="just" marL="0" indent="0" lvl="0">
              <a:lnSpc>
                <a:spcPts val="2243"/>
              </a:lnSpc>
            </a:pPr>
            <a:r>
              <a:rPr lang="en-US" sz="1602" spc="-4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• What is the impact of illness duration and reduced activity on doctor visits?</a:t>
            </a:r>
          </a:p>
          <a:p>
            <a:pPr algn="just" marL="0" indent="0" lvl="0">
              <a:lnSpc>
                <a:spcPts val="2243"/>
              </a:lnSpc>
            </a:pPr>
            <a:r>
              <a:rPr lang="en-US" sz="1602" spc="-4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• Which variables show the strongest correlation with visit counts?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28142" y="1358088"/>
            <a:ext cx="47625" cy="2040668"/>
            <a:chOff x="0" y="0"/>
            <a:chExt cx="12543" cy="5374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537460"/>
            </a:xfrm>
            <a:custGeom>
              <a:avLst/>
              <a:gdLst/>
              <a:ahLst/>
              <a:cxnLst/>
              <a:rect r="r" b="b" t="t" l="l"/>
              <a:pathLst>
                <a:path h="537460" w="12543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28142" y="4449725"/>
            <a:ext cx="9021242" cy="379246"/>
            <a:chOff x="0" y="0"/>
            <a:chExt cx="12028323" cy="50566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49117"/>
              <a:ext cx="11773903" cy="5547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16"/>
                </a:lnSpc>
              </a:pPr>
              <a:r>
                <a:rPr lang="en-US" b="true" sz="2368" spc="-59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OVERVIEW OF DATASETS, SYSTEMS, AND INFORMATION USED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-8687136">
              <a:off x="11711303" y="44820"/>
              <a:ext cx="252200" cy="304858"/>
            </a:xfrm>
            <a:custGeom>
              <a:avLst/>
              <a:gdLst/>
              <a:ahLst/>
              <a:cxnLst/>
              <a:rect r="r" b="b" t="t" l="l"/>
              <a:pathLst>
                <a:path h="304858" w="252200">
                  <a:moveTo>
                    <a:pt x="0" y="0"/>
                  </a:moveTo>
                  <a:lnTo>
                    <a:pt x="252200" y="0"/>
                  </a:lnTo>
                  <a:lnTo>
                    <a:pt x="252200" y="304857"/>
                  </a:lnTo>
                  <a:lnTo>
                    <a:pt x="0" y="304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438046" y="129"/>
            <a:ext cx="1849954" cy="1848037"/>
            <a:chOff x="0" y="0"/>
            <a:chExt cx="2466605" cy="246405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2466605" cy="2464050"/>
              <a:chOff x="0" y="0"/>
              <a:chExt cx="787566" cy="78675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87566" cy="786750"/>
              </a:xfrm>
              <a:custGeom>
                <a:avLst/>
                <a:gdLst/>
                <a:ahLst/>
                <a:cxnLst/>
                <a:rect r="r" b="b" t="t" l="l"/>
                <a:pathLst>
                  <a:path h="786750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319164" y="694049"/>
              <a:ext cx="1828278" cy="11997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421"/>
                </a:lnSpc>
              </a:pPr>
              <a:r>
                <a:rPr lang="en-US" sz="6552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03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 flipH="true">
            <a:off x="6542795" y="0"/>
            <a:ext cx="0" cy="10287000"/>
          </a:xfrm>
          <a:prstGeom prst="line">
            <a:avLst/>
          </a:prstGeom>
          <a:ln cap="rnd" w="19050">
            <a:solidFill>
              <a:srgbClr val="3A58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0" y="5320770"/>
            <a:ext cx="6542795" cy="0"/>
          </a:xfrm>
          <a:prstGeom prst="line">
            <a:avLst/>
          </a:prstGeom>
          <a:ln cap="rnd" w="19050">
            <a:solidFill>
              <a:srgbClr val="3A58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97452" y="174137"/>
            <a:ext cx="6165930" cy="4969363"/>
            <a:chOff x="0" y="0"/>
            <a:chExt cx="955264" cy="76988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5264" cy="769884"/>
            </a:xfrm>
            <a:custGeom>
              <a:avLst/>
              <a:gdLst/>
              <a:ahLst/>
              <a:cxnLst/>
              <a:rect r="r" b="b" t="t" l="l"/>
              <a:pathLst>
                <a:path h="769884" w="955264">
                  <a:moveTo>
                    <a:pt x="0" y="0"/>
                  </a:moveTo>
                  <a:lnTo>
                    <a:pt x="955264" y="0"/>
                  </a:lnTo>
                  <a:lnTo>
                    <a:pt x="955264" y="769884"/>
                  </a:lnTo>
                  <a:lnTo>
                    <a:pt x="0" y="769884"/>
                  </a:lnTo>
                  <a:close/>
                </a:path>
              </a:pathLst>
            </a:custGeom>
            <a:blipFill>
              <a:blip r:embed="rId4"/>
              <a:stretch>
                <a:fillRect l="-58" t="0" r="-58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056208" y="1238443"/>
            <a:ext cx="7107541" cy="2489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6"/>
              </a:lnSpc>
            </a:pPr>
            <a:r>
              <a:rPr lang="en-US" sz="9792" spc="-626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Dataset</a:t>
            </a:r>
          </a:p>
          <a:p>
            <a:pPr algn="l" marL="0" indent="0" lvl="0">
              <a:lnSpc>
                <a:spcPts val="9596"/>
              </a:lnSpc>
            </a:pPr>
            <a:r>
              <a:rPr lang="en-US" sz="9792" spc="-626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Overview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828142" y="5348421"/>
            <a:ext cx="9021242" cy="3717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91"/>
              </a:lnSpc>
            </a:pPr>
            <a:r>
              <a:rPr lang="en-US" sz="2136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The dataset contains 5,190 records sourced from a structured healthcare survey on doctor visit behavior. Originally comprising 13 columns, one unnamed index column (Unnamed: 0) was removed, leaving 12 clean analysis variables.</a:t>
            </a:r>
          </a:p>
          <a:p>
            <a:pPr algn="just" marL="0" indent="0" lvl="0">
              <a:lnSpc>
                <a:spcPts val="2991"/>
              </a:lnSpc>
            </a:pPr>
            <a:r>
              <a:rPr lang="en-US" sz="2136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Key variables include: number of doctor visits (target), age, gender, income, health status, illness severity, activity limitations, chronic conditions, and insurance coverage status.</a:t>
            </a:r>
          </a:p>
          <a:p>
            <a:pPr algn="just" marL="0" indent="0" lvl="0">
              <a:lnSpc>
                <a:spcPts val="2991"/>
              </a:lnSpc>
            </a:pPr>
            <a:r>
              <a:rPr lang="en-US" sz="2136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Data types span both numerical and categorical formats, enabling multi-dimensional exploratory analysis across demographic and health-related dimensions.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36067" y="8320221"/>
            <a:ext cx="3088700" cy="745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91"/>
              </a:lnSpc>
            </a:pPr>
            <a:r>
              <a:rPr lang="en-US" sz="2136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Total patient records analyzed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22135" y="5598177"/>
            <a:ext cx="5116565" cy="2562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985"/>
              </a:lnSpc>
              <a:spcBef>
                <a:spcPct val="0"/>
              </a:spcBef>
            </a:pPr>
            <a:r>
              <a:rPr lang="en-US" sz="14989" spc="-959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5,190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41311" y="0"/>
            <a:ext cx="546689" cy="7173190"/>
            <a:chOff x="0" y="0"/>
            <a:chExt cx="143984" cy="18892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984" cy="1889235"/>
            </a:xfrm>
            <a:custGeom>
              <a:avLst/>
              <a:gdLst/>
              <a:ahLst/>
              <a:cxnLst/>
              <a:rect r="r" b="b" t="t" l="l"/>
              <a:pathLst>
                <a:path h="1889235" w="143984">
                  <a:moveTo>
                    <a:pt x="0" y="0"/>
                  </a:moveTo>
                  <a:lnTo>
                    <a:pt x="143984" y="0"/>
                  </a:lnTo>
                  <a:lnTo>
                    <a:pt x="143984" y="1889235"/>
                  </a:lnTo>
                  <a:lnTo>
                    <a:pt x="0" y="1889235"/>
                  </a:lnTo>
                  <a:close/>
                </a:path>
              </a:pathLst>
            </a:custGeom>
            <a:gradFill rotWithShape="true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3984" cy="19273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H="true">
            <a:off x="4442685" y="0"/>
            <a:ext cx="0" cy="10287000"/>
          </a:xfrm>
          <a:prstGeom prst="line">
            <a:avLst/>
          </a:prstGeom>
          <a:ln cap="rnd" w="19050">
            <a:solidFill>
              <a:srgbClr val="3A58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8872264" y="0"/>
            <a:ext cx="0" cy="7163665"/>
          </a:xfrm>
          <a:prstGeom prst="line">
            <a:avLst/>
          </a:prstGeom>
          <a:ln cap="rnd" w="19050">
            <a:solidFill>
              <a:srgbClr val="3A58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3301844" y="0"/>
            <a:ext cx="0" cy="7163665"/>
          </a:xfrm>
          <a:prstGeom prst="line">
            <a:avLst/>
          </a:prstGeom>
          <a:ln cap="rnd" w="19050">
            <a:solidFill>
              <a:srgbClr val="3A58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0" y="7173190"/>
            <a:ext cx="18288000" cy="0"/>
          </a:xfrm>
          <a:prstGeom prst="line">
            <a:avLst/>
          </a:prstGeom>
          <a:ln cap="rnd" w="19050">
            <a:solidFill>
              <a:srgbClr val="3A58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6305" y="9608"/>
            <a:ext cx="1197405" cy="1196165"/>
            <a:chOff x="0" y="0"/>
            <a:chExt cx="1596540" cy="159488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596540" cy="1594886"/>
              <a:chOff x="0" y="0"/>
              <a:chExt cx="787566" cy="78675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87566" cy="786750"/>
              </a:xfrm>
              <a:custGeom>
                <a:avLst/>
                <a:gdLst/>
                <a:ahLst/>
                <a:cxnLst/>
                <a:rect r="r" b="b" t="t" l="l"/>
                <a:pathLst>
                  <a:path h="786750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206583" y="454809"/>
              <a:ext cx="1183375" cy="7709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56"/>
                </a:lnSpc>
              </a:pPr>
              <a:r>
                <a:rPr lang="en-US" sz="4241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442685" y="9608"/>
            <a:ext cx="1197405" cy="1196165"/>
            <a:chOff x="0" y="0"/>
            <a:chExt cx="1596540" cy="1594886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596540" cy="1594886"/>
              <a:chOff x="0" y="0"/>
              <a:chExt cx="787566" cy="78675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787566" cy="786750"/>
              </a:xfrm>
              <a:custGeom>
                <a:avLst/>
                <a:gdLst/>
                <a:ahLst/>
                <a:cxnLst/>
                <a:rect r="r" b="b" t="t" l="l"/>
                <a:pathLst>
                  <a:path h="786750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206583" y="454809"/>
              <a:ext cx="1183375" cy="7709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56"/>
                </a:lnSpc>
              </a:pPr>
              <a:r>
                <a:rPr lang="en-US" sz="4241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02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875845" y="9608"/>
            <a:ext cx="1197405" cy="1196165"/>
            <a:chOff x="0" y="0"/>
            <a:chExt cx="1596540" cy="1594886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1596540" cy="1594886"/>
              <a:chOff x="0" y="0"/>
              <a:chExt cx="787566" cy="78675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787566" cy="786750"/>
              </a:xfrm>
              <a:custGeom>
                <a:avLst/>
                <a:gdLst/>
                <a:ahLst/>
                <a:cxnLst/>
                <a:rect r="r" b="b" t="t" l="l"/>
                <a:pathLst>
                  <a:path h="786750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206583" y="454809"/>
              <a:ext cx="1183375" cy="7709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56"/>
                </a:lnSpc>
              </a:pPr>
              <a:r>
                <a:rPr lang="en-US" sz="4241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03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309005" y="9608"/>
            <a:ext cx="1197405" cy="1196165"/>
            <a:chOff x="0" y="0"/>
            <a:chExt cx="1596540" cy="1594886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596540" cy="1594886"/>
              <a:chOff x="0" y="0"/>
              <a:chExt cx="787566" cy="78675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787566" cy="786750"/>
              </a:xfrm>
              <a:custGeom>
                <a:avLst/>
                <a:gdLst/>
                <a:ahLst/>
                <a:cxnLst/>
                <a:rect r="r" b="b" t="t" l="l"/>
                <a:pathLst>
                  <a:path h="786750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206583" y="454809"/>
              <a:ext cx="1183375" cy="7709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56"/>
                </a:lnSpc>
              </a:pPr>
              <a:r>
                <a:rPr lang="en-US" sz="4241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04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0663517" y="1890917"/>
            <a:ext cx="872651" cy="800657"/>
          </a:xfrm>
          <a:custGeom>
            <a:avLst/>
            <a:gdLst/>
            <a:ahLst/>
            <a:cxnLst/>
            <a:rect r="r" b="b" t="t" l="l"/>
            <a:pathLst>
              <a:path h="800657" w="872651">
                <a:moveTo>
                  <a:pt x="0" y="0"/>
                </a:moveTo>
                <a:lnTo>
                  <a:pt x="872651" y="0"/>
                </a:lnTo>
                <a:lnTo>
                  <a:pt x="872651" y="800657"/>
                </a:lnTo>
                <a:lnTo>
                  <a:pt x="0" y="800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-5400000">
            <a:off x="14913592" y="1829097"/>
            <a:ext cx="977500" cy="925278"/>
          </a:xfrm>
          <a:custGeom>
            <a:avLst/>
            <a:gdLst/>
            <a:ahLst/>
            <a:cxnLst/>
            <a:rect r="r" b="b" t="t" l="l"/>
            <a:pathLst>
              <a:path h="925278" w="977500">
                <a:moveTo>
                  <a:pt x="0" y="0"/>
                </a:moveTo>
                <a:lnTo>
                  <a:pt x="977500" y="0"/>
                </a:lnTo>
                <a:lnTo>
                  <a:pt x="977500" y="925277"/>
                </a:lnTo>
                <a:lnTo>
                  <a:pt x="0" y="9252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770513" y="2002420"/>
            <a:ext cx="927948" cy="585767"/>
          </a:xfrm>
          <a:custGeom>
            <a:avLst/>
            <a:gdLst/>
            <a:ahLst/>
            <a:cxnLst/>
            <a:rect r="r" b="b" t="t" l="l"/>
            <a:pathLst>
              <a:path h="585767" w="927948">
                <a:moveTo>
                  <a:pt x="0" y="0"/>
                </a:moveTo>
                <a:lnTo>
                  <a:pt x="927948" y="0"/>
                </a:lnTo>
                <a:lnTo>
                  <a:pt x="927948" y="585767"/>
                </a:lnTo>
                <a:lnTo>
                  <a:pt x="0" y="5857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1028700" y="8125800"/>
            <a:ext cx="22757" cy="975106"/>
            <a:chOff x="0" y="0"/>
            <a:chExt cx="12543" cy="5374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543" cy="537460"/>
            </a:xfrm>
            <a:custGeom>
              <a:avLst/>
              <a:gdLst/>
              <a:ahLst/>
              <a:cxnLst/>
              <a:rect r="r" b="b" t="t" l="l"/>
              <a:pathLst>
                <a:path h="537460" w="12543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-9525" y="7173190"/>
            <a:ext cx="546689" cy="3113810"/>
            <a:chOff x="0" y="0"/>
            <a:chExt cx="143984" cy="82009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3984" cy="820098"/>
            </a:xfrm>
            <a:custGeom>
              <a:avLst/>
              <a:gdLst/>
              <a:ahLst/>
              <a:cxnLst/>
              <a:rect r="r" b="b" t="t" l="l"/>
              <a:pathLst>
                <a:path h="820098" w="143984">
                  <a:moveTo>
                    <a:pt x="0" y="0"/>
                  </a:moveTo>
                  <a:lnTo>
                    <a:pt x="143984" y="0"/>
                  </a:lnTo>
                  <a:lnTo>
                    <a:pt x="143984" y="820098"/>
                  </a:lnTo>
                  <a:lnTo>
                    <a:pt x="0" y="820098"/>
                  </a:lnTo>
                  <a:close/>
                </a:path>
              </a:pathLst>
            </a:custGeom>
            <a:gradFill rotWithShape="true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43984" cy="858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6143230" y="1678649"/>
            <a:ext cx="1090901" cy="1234663"/>
          </a:xfrm>
          <a:custGeom>
            <a:avLst/>
            <a:gdLst/>
            <a:ahLst/>
            <a:cxnLst/>
            <a:rect r="r" b="b" t="t" l="l"/>
            <a:pathLst>
              <a:path h="1234663" w="1090901">
                <a:moveTo>
                  <a:pt x="0" y="0"/>
                </a:moveTo>
                <a:lnTo>
                  <a:pt x="1090901" y="0"/>
                </a:lnTo>
                <a:lnTo>
                  <a:pt x="1090901" y="1234663"/>
                </a:lnTo>
                <a:lnTo>
                  <a:pt x="0" y="12346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562973" y="4236527"/>
            <a:ext cx="3336787" cy="2082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45"/>
              </a:lnSpc>
            </a:pPr>
            <a:r>
              <a:rPr lang="en-US" sz="1804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Removed the unnamed index column (Unnamed: 0) generated during CSV export. This step ensured only the 12 meaningful analysis variables were retained for processing.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989081" y="4531802"/>
            <a:ext cx="3336787" cy="1786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45"/>
              </a:lnSpc>
            </a:pPr>
            <a:r>
              <a:rPr lang="en-US" sz="1804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Performed a systematic null-value audit across all 12 variables. No missing values were detected, confirming the dataset was complete and ready for analysis.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415189" y="4531802"/>
            <a:ext cx="3336787" cy="1786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45"/>
              </a:lnSpc>
            </a:pPr>
            <a:r>
              <a:rPr lang="en-US" sz="1804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Scanned all 5,190 records for exact duplicate rows. No duplicates were found, validating the integrity and uniqueness of each patient visit record.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844769" y="4236527"/>
            <a:ext cx="3336787" cy="2082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45"/>
              </a:lnSpc>
            </a:pPr>
            <a:r>
              <a:rPr lang="en-US" sz="1804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Reviewed categorical variables (gender, insurance, illness) for consistency. Computed descriptive statistics including mean, median, and standard deviation for numeric fields.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37678" y="8063749"/>
            <a:ext cx="2762082" cy="1194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85"/>
              </a:lnSpc>
            </a:pPr>
            <a:r>
              <a:rPr lang="en-US" sz="4679" spc="-299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Data Cleaning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989081" y="7826862"/>
            <a:ext cx="7762895" cy="127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62"/>
              </a:lnSpc>
            </a:pPr>
            <a:r>
              <a:rPr lang="en-US" sz="1830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The dataset of 5,190 records underwent a structured four-step cleaning pipeline. After removing the redundant index column, checks confirmed zero missing values and zero duplicates, yielding a clean, analysis-ready dataset of 12 variables.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12270" y="3090400"/>
            <a:ext cx="3438193" cy="82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43"/>
              </a:lnSpc>
              <a:spcBef>
                <a:spcPct val="0"/>
              </a:spcBef>
            </a:pPr>
            <a:r>
              <a:rPr lang="en-US" b="true" sz="2388" spc="-152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INDEX</a:t>
            </a:r>
          </a:p>
          <a:p>
            <a:pPr algn="ctr" marL="0" indent="0" lvl="0">
              <a:lnSpc>
                <a:spcPts val="3343"/>
              </a:lnSpc>
              <a:spcBef>
                <a:spcPct val="0"/>
              </a:spcBef>
            </a:pPr>
            <a:r>
              <a:rPr lang="en-US" b="true" sz="2388" spc="-152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REMOVAL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938378" y="3090400"/>
            <a:ext cx="3438193" cy="82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43"/>
              </a:lnSpc>
              <a:spcBef>
                <a:spcPct val="0"/>
              </a:spcBef>
            </a:pPr>
            <a:r>
              <a:rPr lang="en-US" b="true" sz="2388" spc="-152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MISSING-VALUE</a:t>
            </a:r>
          </a:p>
          <a:p>
            <a:pPr algn="ctr" marL="0" indent="0" lvl="0">
              <a:lnSpc>
                <a:spcPts val="3343"/>
              </a:lnSpc>
              <a:spcBef>
                <a:spcPct val="0"/>
              </a:spcBef>
            </a:pPr>
            <a:r>
              <a:rPr lang="en-US" b="true" sz="2388" spc="-152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CHECK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364486" y="3090400"/>
            <a:ext cx="3438193" cy="82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43"/>
              </a:lnSpc>
            </a:pPr>
            <a:r>
              <a:rPr lang="en-US" b="true" sz="2388" spc="-152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DUPLICATE</a:t>
            </a:r>
          </a:p>
          <a:p>
            <a:pPr algn="ctr" marL="0" indent="0" lvl="0">
              <a:lnSpc>
                <a:spcPts val="3343"/>
              </a:lnSpc>
            </a:pPr>
            <a:r>
              <a:rPr lang="en-US" b="true" sz="2388" spc="-152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CHECK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794066" y="3090400"/>
            <a:ext cx="3438193" cy="82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43"/>
              </a:lnSpc>
            </a:pPr>
            <a:r>
              <a:rPr lang="en-US" b="true" sz="2388" spc="-152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CATEGORICAL REVIEW &amp; DESCRIPTIVE STATS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938179" cy="10287000"/>
            <a:chOff x="0" y="0"/>
            <a:chExt cx="1827339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7339" cy="2709333"/>
            </a:xfrm>
            <a:custGeom>
              <a:avLst/>
              <a:gdLst/>
              <a:ahLst/>
              <a:cxnLst/>
              <a:rect r="r" b="b" t="t" l="l"/>
              <a:pathLst>
                <a:path h="2709333" w="1827339">
                  <a:moveTo>
                    <a:pt x="0" y="0"/>
                  </a:moveTo>
                  <a:lnTo>
                    <a:pt x="1827339" y="0"/>
                  </a:lnTo>
                  <a:lnTo>
                    <a:pt x="1827339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7339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31157663" y="3952828"/>
            <a:ext cx="114837092" cy="1148371"/>
          </a:xfrm>
          <a:custGeom>
            <a:avLst/>
            <a:gdLst/>
            <a:ahLst/>
            <a:cxnLst/>
            <a:rect r="r" b="b" t="t" l="l"/>
            <a:pathLst>
              <a:path h="1148371" w="114837092">
                <a:moveTo>
                  <a:pt x="0" y="0"/>
                </a:moveTo>
                <a:lnTo>
                  <a:pt x="114837092" y="0"/>
                </a:lnTo>
                <a:lnTo>
                  <a:pt x="114837092" y="1148371"/>
                </a:lnTo>
                <a:lnTo>
                  <a:pt x="0" y="11483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459316" y="1438329"/>
            <a:ext cx="2920486" cy="2916826"/>
            <a:chOff x="0" y="0"/>
            <a:chExt cx="567580" cy="5668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7580" cy="566868"/>
            </a:xfrm>
            <a:custGeom>
              <a:avLst/>
              <a:gdLst/>
              <a:ahLst/>
              <a:cxnLst/>
              <a:rect r="r" b="b" t="t" l="l"/>
              <a:pathLst>
                <a:path h="566868" w="567580">
                  <a:moveTo>
                    <a:pt x="119291" y="0"/>
                  </a:moveTo>
                  <a:lnTo>
                    <a:pt x="448289" y="0"/>
                  </a:lnTo>
                  <a:cubicBezTo>
                    <a:pt x="514171" y="0"/>
                    <a:pt x="567580" y="53408"/>
                    <a:pt x="567580" y="119291"/>
                  </a:cubicBezTo>
                  <a:lnTo>
                    <a:pt x="567580" y="447578"/>
                  </a:lnTo>
                  <a:cubicBezTo>
                    <a:pt x="567580" y="479216"/>
                    <a:pt x="555012" y="509558"/>
                    <a:pt x="532640" y="531929"/>
                  </a:cubicBezTo>
                  <a:cubicBezTo>
                    <a:pt x="510269" y="554300"/>
                    <a:pt x="479927" y="566868"/>
                    <a:pt x="448289" y="566868"/>
                  </a:cubicBezTo>
                  <a:lnTo>
                    <a:pt x="119291" y="566868"/>
                  </a:lnTo>
                  <a:cubicBezTo>
                    <a:pt x="87653" y="566868"/>
                    <a:pt x="57311" y="554300"/>
                    <a:pt x="34939" y="531929"/>
                  </a:cubicBezTo>
                  <a:cubicBezTo>
                    <a:pt x="12568" y="509558"/>
                    <a:pt x="0" y="479216"/>
                    <a:pt x="0" y="447578"/>
                  </a:cubicBezTo>
                  <a:lnTo>
                    <a:pt x="0" y="119291"/>
                  </a:lnTo>
                  <a:cubicBezTo>
                    <a:pt x="0" y="53408"/>
                    <a:pt x="53408" y="0"/>
                    <a:pt x="11929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567580" cy="538293"/>
            </a:xfrm>
            <a:prstGeom prst="rect">
              <a:avLst/>
            </a:prstGeom>
          </p:spPr>
          <p:txBody>
            <a:bodyPr anchor="ctr" rtlCol="false" tIns="65745" lIns="65745" bIns="65745" rIns="65745"/>
            <a:lstStyle/>
            <a:p>
              <a:pPr algn="ctr" marL="0" indent="0" lvl="0">
                <a:lnSpc>
                  <a:spcPts val="246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708475" y="2199673"/>
            <a:ext cx="2459408" cy="807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24"/>
              </a:lnSpc>
            </a:pPr>
            <a:r>
              <a:rPr lang="en-US" b="true" sz="6085" spc="-182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8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40959" y="3181841"/>
            <a:ext cx="1957200" cy="526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16"/>
              </a:lnSpc>
            </a:pPr>
            <a:r>
              <a:rPr lang="en-US" sz="1512" spc="-3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KEY VARIABLES ANALYZED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76644" y="3964505"/>
            <a:ext cx="958210" cy="1330181"/>
          </a:xfrm>
          <a:custGeom>
            <a:avLst/>
            <a:gdLst/>
            <a:ahLst/>
            <a:cxnLst/>
            <a:rect r="r" b="b" t="t" l="l"/>
            <a:pathLst>
              <a:path h="1330181" w="958210">
                <a:moveTo>
                  <a:pt x="0" y="0"/>
                </a:moveTo>
                <a:lnTo>
                  <a:pt x="958211" y="0"/>
                </a:lnTo>
                <a:lnTo>
                  <a:pt x="958211" y="1330181"/>
                </a:lnTo>
                <a:lnTo>
                  <a:pt x="0" y="13301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5619299"/>
            <a:ext cx="4378886" cy="39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14"/>
              </a:lnSpc>
            </a:pPr>
            <a:r>
              <a:rPr lang="en-US" b="true" sz="158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VISIT DISTRIBUTION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6215298"/>
            <a:ext cx="4378886" cy="426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40"/>
              </a:lnSpc>
            </a:pPr>
            <a:r>
              <a:rPr lang="en-US" sz="13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Doctor visit counts range from 0 to 9+, with most patients visiting 0–2 times per year.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28700" y="7234634"/>
            <a:ext cx="4378886" cy="714076"/>
            <a:chOff x="0" y="0"/>
            <a:chExt cx="5838515" cy="952101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161925"/>
              <a:ext cx="5838515" cy="4752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14"/>
                </a:lnSpc>
              </a:pPr>
              <a:r>
                <a:rPr lang="en-US" b="true" sz="158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DEMOGRAPHICS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389302"/>
              <a:ext cx="5838515" cy="5627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1640"/>
                </a:lnSpc>
              </a:pPr>
              <a:r>
                <a:rPr lang="en-US" sz="134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Gender and age comparisons reveal older patients and females tend to report more frequent visits.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8544224"/>
            <a:ext cx="4378886" cy="714076"/>
            <a:chOff x="0" y="0"/>
            <a:chExt cx="5838515" cy="952101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161925"/>
              <a:ext cx="5838515" cy="4752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14"/>
                </a:lnSpc>
              </a:pPr>
              <a:r>
                <a:rPr lang="en-US" b="true" sz="158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HEALTH &amp; CONDITIONS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389302"/>
              <a:ext cx="5838515" cy="5627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1640"/>
                </a:lnSpc>
              </a:pPr>
              <a:r>
                <a:rPr lang="en-US" sz="134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Illness severity, health status, insurance coverage, and chronic conditions all influence visit frequency.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345491" y="1449662"/>
            <a:ext cx="7522404" cy="7477640"/>
            <a:chOff x="0" y="0"/>
            <a:chExt cx="10029872" cy="9970187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1033544" y="-57150"/>
              <a:ext cx="7126880" cy="3938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357"/>
                </a:lnSpc>
              </a:pPr>
              <a:r>
                <a:rPr lang="en-US" b="true" sz="1684" spc="-42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VISIT DISTRIBUTION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033544" y="1121523"/>
              <a:ext cx="8996329" cy="17640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149"/>
                </a:lnSpc>
              </a:pPr>
              <a:r>
                <a:rPr lang="en-US" sz="1535" spc="-38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Analysis of 5,190 patient records reveals a right-skewed distribution of doctor visits. The majority of patients report 0–2 annual visits, while a smaller proportion accounts for high-frequency visits. Histograms and box plots confirm significant variability across the dataset, with outliers present at the upper end of the visit count range.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033544" y="3485135"/>
              <a:ext cx="7126880" cy="3938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357"/>
                </a:lnSpc>
              </a:pPr>
              <a:r>
                <a:rPr lang="en-US" b="true" sz="1684" spc="-42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GENDER, AGE &amp; ILLNESS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033544" y="4308208"/>
              <a:ext cx="8996329" cy="21196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149"/>
                </a:lnSpc>
              </a:pPr>
              <a:r>
                <a:rPr lang="en-US" sz="1535" spc="-38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Female patients show slightly higher average visit counts compared to males. Age displays a positive trend with visit frequency, as older individuals tend to seek care more often. Illness severity, measured on a categorical scale, is a notable differentiator — patients reporting higher illness levels consistently show elevated visit counts across all age groups.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033544" y="7027419"/>
              <a:ext cx="7126880" cy="3938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357"/>
                </a:lnSpc>
              </a:pPr>
              <a:r>
                <a:rPr lang="en-US" b="true" sz="1684" spc="-42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HEALTH, INCOME &amp; INSURANCE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033544" y="7850492"/>
              <a:ext cx="8996329" cy="21196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149"/>
                </a:lnSpc>
              </a:pPr>
              <a:r>
                <a:rPr lang="en-US" sz="1535" spc="-38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Self-reported health status inversely correlates with visits — poorer health drives higher utilization. Income shows a mild negative association, suggesting lower-income patients visit slightly less. Insurance coverage and chronic conditions both increase visit frequency, with insured and chronically ill patients recording the highest average annual doctor visits in the dataset.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1216347"/>
              <a:ext cx="643052" cy="258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370"/>
                </a:lnSpc>
              </a:pPr>
              <a:r>
                <a:rPr lang="en-US" sz="1384" spc="-41">
                  <a:solidFill>
                    <a:srgbClr val="3A58E4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01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4758631"/>
              <a:ext cx="643052" cy="258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370"/>
                </a:lnSpc>
              </a:pPr>
              <a:r>
                <a:rPr lang="en-US" sz="1384" spc="-41">
                  <a:solidFill>
                    <a:srgbClr val="3A58E4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02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8300916"/>
              <a:ext cx="643052" cy="258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370"/>
                </a:lnSpc>
              </a:pPr>
              <a:r>
                <a:rPr lang="en-US" sz="1384" spc="-41">
                  <a:solidFill>
                    <a:srgbClr val="3A58E4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03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28700" y="1196251"/>
            <a:ext cx="24226" cy="1038034"/>
            <a:chOff x="0" y="0"/>
            <a:chExt cx="12543" cy="5374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543" cy="537460"/>
            </a:xfrm>
            <a:custGeom>
              <a:avLst/>
              <a:gdLst/>
              <a:ahLst/>
              <a:cxnLst/>
              <a:rect r="r" b="b" t="t" l="l"/>
              <a:pathLst>
                <a:path h="537460" w="12543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144711" y="1393373"/>
            <a:ext cx="2753109" cy="1008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58"/>
              </a:lnSpc>
            </a:pPr>
            <a:r>
              <a:rPr lang="en-US" sz="3937" spc="-25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Exploratory Data Analysis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525863"/>
            <a:ext cx="47625" cy="2040668"/>
            <a:chOff x="0" y="0"/>
            <a:chExt cx="12543" cy="5374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537460"/>
            </a:xfrm>
            <a:custGeom>
              <a:avLst/>
              <a:gdLst/>
              <a:ahLst/>
              <a:cxnLst/>
              <a:rect r="r" b="b" t="t" l="l"/>
              <a:pathLst>
                <a:path h="537460" w="12543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4191922"/>
            <a:ext cx="7514069" cy="854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16"/>
              </a:lnSpc>
            </a:pPr>
            <a:r>
              <a:rPr lang="en-US" b="true" sz="2368" spc="-59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PEARSON CORRELATIONS WITH DOCTOR VISITS — STRONGEST TO WEAKEST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8687136">
            <a:off x="4577987" y="4654787"/>
            <a:ext cx="189150" cy="228643"/>
          </a:xfrm>
          <a:custGeom>
            <a:avLst/>
            <a:gdLst/>
            <a:ahLst/>
            <a:cxnLst/>
            <a:rect r="r" b="b" t="t" l="l"/>
            <a:pathLst>
              <a:path h="228643" w="189150">
                <a:moveTo>
                  <a:pt x="0" y="0"/>
                </a:moveTo>
                <a:lnTo>
                  <a:pt x="189150" y="0"/>
                </a:lnTo>
                <a:lnTo>
                  <a:pt x="189150" y="228643"/>
                </a:lnTo>
                <a:lnTo>
                  <a:pt x="0" y="2286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692815" y="129"/>
            <a:ext cx="1849954" cy="1848037"/>
            <a:chOff x="0" y="0"/>
            <a:chExt cx="2466605" cy="246405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466605" cy="2464050"/>
              <a:chOff x="0" y="0"/>
              <a:chExt cx="787566" cy="78675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787566" cy="786750"/>
              </a:xfrm>
              <a:custGeom>
                <a:avLst/>
                <a:gdLst/>
                <a:ahLst/>
                <a:cxnLst/>
                <a:rect r="r" b="b" t="t" l="l"/>
                <a:pathLst>
                  <a:path h="786750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319164" y="694049"/>
              <a:ext cx="1828278" cy="11997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421"/>
                </a:lnSpc>
              </a:pPr>
              <a:r>
                <a:rPr lang="en-US" sz="6552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06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630940" y="0"/>
            <a:ext cx="7451928" cy="10287000"/>
            <a:chOff x="0" y="0"/>
            <a:chExt cx="9935904" cy="13716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9634280" cy="13716000"/>
              <a:chOff x="0" y="0"/>
              <a:chExt cx="1119452" cy="159372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119452" cy="1593725"/>
              </a:xfrm>
              <a:custGeom>
                <a:avLst/>
                <a:gdLst/>
                <a:ahLst/>
                <a:cxnLst/>
                <a:rect r="r" b="b" t="t" l="l"/>
                <a:pathLst>
                  <a:path h="1593725" w="1119452">
                    <a:moveTo>
                      <a:pt x="0" y="0"/>
                    </a:moveTo>
                    <a:lnTo>
                      <a:pt x="1119452" y="0"/>
                    </a:lnTo>
                    <a:lnTo>
                      <a:pt x="1119452" y="1593725"/>
                    </a:lnTo>
                    <a:lnTo>
                      <a:pt x="0" y="1593725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-82" r="0" b="-82"/>
                </a:stretch>
              </a:blipFill>
            </p:spPr>
          </p:sp>
        </p:grpSp>
        <p:sp>
          <p:nvSpPr>
            <p:cNvPr name="AutoShape 15" id="15"/>
            <p:cNvSpPr/>
            <p:nvPr/>
          </p:nvSpPr>
          <p:spPr>
            <a:xfrm>
              <a:off x="9923204" y="0"/>
              <a:ext cx="0" cy="13716000"/>
            </a:xfrm>
            <a:prstGeom prst="line">
              <a:avLst/>
            </a:prstGeom>
            <a:ln cap="rnd" w="25400">
              <a:solidFill>
                <a:srgbClr val="3A58E4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256766" y="1406218"/>
            <a:ext cx="5780387" cy="2489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6"/>
              </a:lnSpc>
            </a:pPr>
            <a:r>
              <a:rPr lang="en-US" sz="9792" spc="-626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Correlation Analysis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5613551"/>
            <a:ext cx="7514069" cy="3262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56"/>
              </a:lnSpc>
            </a:pPr>
            <a:r>
              <a:rPr lang="en-US" sz="1683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Reduced Activity (0.403): The strongest positive correlation — patients with reduced daily activity visited doctors most frequently.</a:t>
            </a:r>
          </a:p>
          <a:p>
            <a:pPr algn="just" marL="0" indent="0" lvl="0">
              <a:lnSpc>
                <a:spcPts val="2356"/>
              </a:lnSpc>
            </a:pPr>
            <a:r>
              <a:rPr lang="en-US" sz="1683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Illness (0.185): Moderate positive link; more illness episodes correlate with more visits.</a:t>
            </a:r>
          </a:p>
          <a:p>
            <a:pPr algn="just" marL="0" indent="0" lvl="0">
              <a:lnSpc>
                <a:spcPts val="2356"/>
              </a:lnSpc>
            </a:pPr>
            <a:r>
              <a:rPr lang="en-US" sz="1683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Health Status (0.149): Poorer self-reported health is associated with higher visit frequency.</a:t>
            </a:r>
          </a:p>
          <a:p>
            <a:pPr algn="just" marL="0" indent="0" lvl="0">
              <a:lnSpc>
                <a:spcPts val="2356"/>
              </a:lnSpc>
            </a:pPr>
            <a:r>
              <a:rPr lang="en-US" sz="1683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Age (0.124): Older patients tend to visit doctors slightly more often.</a:t>
            </a:r>
          </a:p>
          <a:p>
            <a:pPr algn="just" marL="0" indent="0" lvl="0">
              <a:lnSpc>
                <a:spcPts val="2356"/>
              </a:lnSpc>
            </a:pPr>
            <a:r>
              <a:rPr lang="en-US" sz="1683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Income (−0.077): A weak negative correlation; higher income is marginally associated with fewer visits, though the effect is small.</a:t>
            </a:r>
          </a:p>
          <a:p>
            <a:pPr algn="just" marL="0" indent="0" lvl="0">
              <a:lnSpc>
                <a:spcPts val="2356"/>
              </a:lnSpc>
            </a:pPr>
            <a:r>
              <a:rPr lang="en-US" sz="1683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Reduced activity is by far the dominant predictor, suggesting physical functioning is the key driver of healthcare utilization in this dataset.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9455662" y="7848788"/>
            <a:ext cx="2479908" cy="482455"/>
          </a:xfrm>
          <a:custGeom>
            <a:avLst/>
            <a:gdLst/>
            <a:ahLst/>
            <a:cxnLst/>
            <a:rect r="r" b="b" t="t" l="l"/>
            <a:pathLst>
              <a:path h="482455" w="2479908">
                <a:moveTo>
                  <a:pt x="0" y="0"/>
                </a:moveTo>
                <a:lnTo>
                  <a:pt x="2479908" y="0"/>
                </a:lnTo>
                <a:lnTo>
                  <a:pt x="2479908" y="482455"/>
                </a:lnTo>
                <a:lnTo>
                  <a:pt x="0" y="4824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9545918" y="5831999"/>
            <a:ext cx="2270445" cy="2267600"/>
            <a:chOff x="0" y="0"/>
            <a:chExt cx="567580" cy="56686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67580" cy="566868"/>
            </a:xfrm>
            <a:custGeom>
              <a:avLst/>
              <a:gdLst/>
              <a:ahLst/>
              <a:cxnLst/>
              <a:rect r="r" b="b" t="t" l="l"/>
              <a:pathLst>
                <a:path h="566868" w="567580">
                  <a:moveTo>
                    <a:pt x="153444" y="0"/>
                  </a:moveTo>
                  <a:lnTo>
                    <a:pt x="414136" y="0"/>
                  </a:lnTo>
                  <a:cubicBezTo>
                    <a:pt x="498880" y="0"/>
                    <a:pt x="567580" y="68699"/>
                    <a:pt x="567580" y="153444"/>
                  </a:cubicBezTo>
                  <a:lnTo>
                    <a:pt x="567580" y="413424"/>
                  </a:lnTo>
                  <a:cubicBezTo>
                    <a:pt x="567580" y="454120"/>
                    <a:pt x="551413" y="493149"/>
                    <a:pt x="522637" y="521926"/>
                  </a:cubicBezTo>
                  <a:cubicBezTo>
                    <a:pt x="493861" y="550702"/>
                    <a:pt x="454831" y="566868"/>
                    <a:pt x="414136" y="566868"/>
                  </a:cubicBezTo>
                  <a:lnTo>
                    <a:pt x="153444" y="566868"/>
                  </a:lnTo>
                  <a:cubicBezTo>
                    <a:pt x="112748" y="566868"/>
                    <a:pt x="73719" y="550702"/>
                    <a:pt x="44943" y="521926"/>
                  </a:cubicBezTo>
                  <a:cubicBezTo>
                    <a:pt x="16166" y="493149"/>
                    <a:pt x="0" y="454120"/>
                    <a:pt x="0" y="413424"/>
                  </a:cubicBezTo>
                  <a:lnTo>
                    <a:pt x="0" y="153444"/>
                  </a:lnTo>
                  <a:cubicBezTo>
                    <a:pt x="0" y="112748"/>
                    <a:pt x="16166" y="73719"/>
                    <a:pt x="44943" y="44943"/>
                  </a:cubicBezTo>
                  <a:cubicBezTo>
                    <a:pt x="73719" y="16166"/>
                    <a:pt x="112748" y="0"/>
                    <a:pt x="1534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567580" cy="538293"/>
            </a:xfrm>
            <a:prstGeom prst="rect">
              <a:avLst/>
            </a:prstGeom>
          </p:spPr>
          <p:txBody>
            <a:bodyPr anchor="ctr" rtlCol="false" tIns="51111" lIns="51111" bIns="51111" rIns="51111"/>
            <a:lstStyle/>
            <a:p>
              <a:pPr algn="ctr" marL="0" indent="0" lvl="0">
                <a:lnSpc>
                  <a:spcPts val="246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904370" y="6340300"/>
            <a:ext cx="1582493" cy="516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76"/>
              </a:lnSpc>
            </a:pPr>
            <a:r>
              <a:rPr lang="en-US" b="true" sz="3915" spc="-117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0.403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056286" y="6817332"/>
            <a:ext cx="1278661" cy="842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</a:pPr>
            <a:r>
              <a:rPr lang="en-US" sz="1199" spc="-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STRONGEST CORRELATION (REDUCED ACTIVITY)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6766" y="2886088"/>
            <a:ext cx="5217559" cy="842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29"/>
              </a:lnSpc>
            </a:pPr>
            <a:r>
              <a:rPr lang="en-US" sz="6458" spc="-413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Key Insights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1358088"/>
            <a:ext cx="47625" cy="2040668"/>
            <a:chOff x="0" y="0"/>
            <a:chExt cx="12543" cy="5374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543" cy="537460"/>
            </a:xfrm>
            <a:custGeom>
              <a:avLst/>
              <a:gdLst/>
              <a:ahLst/>
              <a:cxnLst/>
              <a:rect r="r" b="b" t="t" l="l"/>
              <a:pathLst>
                <a:path h="537460" w="12543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4312874"/>
            <a:ext cx="8172450" cy="379246"/>
            <a:chOff x="0" y="0"/>
            <a:chExt cx="10896600" cy="50566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52169"/>
              <a:ext cx="10820400" cy="3534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87"/>
                </a:lnSpc>
              </a:pPr>
              <a:r>
                <a:rPr lang="en-US" b="true" sz="1562" spc="-39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HEALTH &amp; ACTIVITY FACTORS VS. INCOME — INTERPRETING ASSOCIATIONS CAREFULLY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-8687136">
              <a:off x="10579580" y="44820"/>
              <a:ext cx="252200" cy="304858"/>
            </a:xfrm>
            <a:custGeom>
              <a:avLst/>
              <a:gdLst/>
              <a:ahLst/>
              <a:cxnLst/>
              <a:rect r="r" b="b" t="t" l="l"/>
              <a:pathLst>
                <a:path h="304858" w="252200">
                  <a:moveTo>
                    <a:pt x="0" y="0"/>
                  </a:moveTo>
                  <a:lnTo>
                    <a:pt x="252200" y="0"/>
                  </a:lnTo>
                  <a:lnTo>
                    <a:pt x="252200" y="304857"/>
                  </a:lnTo>
                  <a:lnTo>
                    <a:pt x="0" y="304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438046" y="338687"/>
            <a:ext cx="1849954" cy="1509480"/>
            <a:chOff x="0" y="0"/>
            <a:chExt cx="2466605" cy="201264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466605" cy="2012640"/>
              <a:chOff x="0" y="0"/>
              <a:chExt cx="787566" cy="642618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87566" cy="642618"/>
              </a:xfrm>
              <a:custGeom>
                <a:avLst/>
                <a:gdLst/>
                <a:ahLst/>
                <a:cxnLst/>
                <a:rect r="r" b="b" t="t" l="l"/>
                <a:pathLst>
                  <a:path h="642618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642618"/>
                    </a:lnTo>
                    <a:lnTo>
                      <a:pt x="0" y="642618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787566" cy="6807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19164" y="655949"/>
              <a:ext cx="1828278" cy="7864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35"/>
                </a:lnSpc>
              </a:pPr>
              <a:r>
                <a:rPr lang="en-US" sz="4321" spc="-276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07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898662" y="1816764"/>
            <a:ext cx="6435239" cy="7240775"/>
          </a:xfrm>
          <a:custGeom>
            <a:avLst/>
            <a:gdLst/>
            <a:ahLst/>
            <a:cxnLst/>
            <a:rect r="r" b="b" t="t" l="l"/>
            <a:pathLst>
              <a:path h="7240775" w="6435239">
                <a:moveTo>
                  <a:pt x="0" y="0"/>
                </a:moveTo>
                <a:lnTo>
                  <a:pt x="6435239" y="0"/>
                </a:lnTo>
                <a:lnTo>
                  <a:pt x="6435239" y="7240774"/>
                </a:lnTo>
                <a:lnTo>
                  <a:pt x="0" y="72407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70201" y="5488170"/>
            <a:ext cx="7273799" cy="528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91"/>
              </a:lnSpc>
            </a:pPr>
            <a:r>
              <a:rPr lang="en-US" sz="1494" spc="-3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Reduced activity (0.403) is the strongest predictor of doctor visits among all variables analyzed.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70201" y="6479462"/>
            <a:ext cx="7273799" cy="528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91"/>
              </a:lnSpc>
            </a:pPr>
            <a:r>
              <a:rPr lang="en-US" sz="1494" spc="-3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Health and activity factors consistently show stronger associations with visit frequency than income (-0.077).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70201" y="7470753"/>
            <a:ext cx="7273799" cy="528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91"/>
              </a:lnSpc>
            </a:pPr>
            <a:r>
              <a:rPr lang="en-US" sz="1494" spc="-3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Illness (0.185), self-rated health (0.149), and age (0.124) each contribute meaningfully to visit patterns.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70201" y="8462045"/>
            <a:ext cx="7273799" cy="528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91"/>
              </a:lnSpc>
            </a:pPr>
            <a:r>
              <a:rPr lang="en-US" sz="1494" spc="-3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All findings reflect correlations only — no causal claims can be drawn from this exploratory analysis.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052512" y="5400430"/>
            <a:ext cx="489071" cy="489071"/>
          </a:xfrm>
          <a:custGeom>
            <a:avLst/>
            <a:gdLst/>
            <a:ahLst/>
            <a:cxnLst/>
            <a:rect r="r" b="b" t="t" l="l"/>
            <a:pathLst>
              <a:path h="489071" w="489071">
                <a:moveTo>
                  <a:pt x="0" y="0"/>
                </a:moveTo>
                <a:lnTo>
                  <a:pt x="489072" y="0"/>
                </a:lnTo>
                <a:lnTo>
                  <a:pt x="489072" y="489071"/>
                </a:lnTo>
                <a:lnTo>
                  <a:pt x="0" y="4890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52512" y="6391722"/>
            <a:ext cx="489071" cy="489071"/>
          </a:xfrm>
          <a:custGeom>
            <a:avLst/>
            <a:gdLst/>
            <a:ahLst/>
            <a:cxnLst/>
            <a:rect r="r" b="b" t="t" l="l"/>
            <a:pathLst>
              <a:path h="489071" w="489071">
                <a:moveTo>
                  <a:pt x="0" y="0"/>
                </a:moveTo>
                <a:lnTo>
                  <a:pt x="489072" y="0"/>
                </a:lnTo>
                <a:lnTo>
                  <a:pt x="489072" y="489071"/>
                </a:lnTo>
                <a:lnTo>
                  <a:pt x="0" y="4890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52512" y="7383013"/>
            <a:ext cx="489071" cy="489071"/>
          </a:xfrm>
          <a:custGeom>
            <a:avLst/>
            <a:gdLst/>
            <a:ahLst/>
            <a:cxnLst/>
            <a:rect r="r" b="b" t="t" l="l"/>
            <a:pathLst>
              <a:path h="489071" w="489071">
                <a:moveTo>
                  <a:pt x="0" y="0"/>
                </a:moveTo>
                <a:lnTo>
                  <a:pt x="489072" y="0"/>
                </a:lnTo>
                <a:lnTo>
                  <a:pt x="489072" y="489071"/>
                </a:lnTo>
                <a:lnTo>
                  <a:pt x="0" y="4890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52512" y="8376909"/>
            <a:ext cx="489071" cy="489071"/>
          </a:xfrm>
          <a:custGeom>
            <a:avLst/>
            <a:gdLst/>
            <a:ahLst/>
            <a:cxnLst/>
            <a:rect r="r" b="b" t="t" l="l"/>
            <a:pathLst>
              <a:path h="489071" w="489071">
                <a:moveTo>
                  <a:pt x="0" y="0"/>
                </a:moveTo>
                <a:lnTo>
                  <a:pt x="489072" y="0"/>
                </a:lnTo>
                <a:lnTo>
                  <a:pt x="489072" y="489072"/>
                </a:lnTo>
                <a:lnTo>
                  <a:pt x="0" y="4890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38046" y="304358"/>
            <a:ext cx="1849954" cy="1543808"/>
            <a:chOff x="0" y="0"/>
            <a:chExt cx="2466605" cy="205841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66605" cy="2058411"/>
              <a:chOff x="0" y="0"/>
              <a:chExt cx="787566" cy="6572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87566" cy="657233"/>
              </a:xfrm>
              <a:custGeom>
                <a:avLst/>
                <a:gdLst/>
                <a:ahLst/>
                <a:cxnLst/>
                <a:rect r="r" b="b" t="t" l="l"/>
                <a:pathLst>
                  <a:path h="657233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657233"/>
                    </a:lnTo>
                    <a:lnTo>
                      <a:pt x="0" y="65723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787566" cy="6953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319164" y="665474"/>
              <a:ext cx="1828278" cy="8227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436"/>
                </a:lnSpc>
              </a:pPr>
              <a:r>
                <a:rPr lang="en-US" sz="4527" spc="-28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08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545788" y="3062727"/>
            <a:ext cx="7196424" cy="379246"/>
            <a:chOff x="0" y="0"/>
            <a:chExt cx="9595232" cy="505662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41991"/>
              <a:ext cx="9378912" cy="3636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91"/>
                </a:lnSpc>
              </a:pPr>
              <a:r>
                <a:rPr lang="en-US" b="true" sz="1636" spc="-40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SELECTED PROJECT CHARTS AND VISUAL OUTPUTS FROM THE ANALYSIS</a:t>
              </a:r>
            </a:p>
          </p:txBody>
        </p:sp>
        <p:sp>
          <p:nvSpPr>
            <p:cNvPr name="Freeform 9" id="9"/>
            <p:cNvSpPr/>
            <p:nvPr/>
          </p:nvSpPr>
          <p:spPr>
            <a:xfrm flipH="false" flipV="false" rot="-8687136">
              <a:off x="9278212" y="44820"/>
              <a:ext cx="252200" cy="304858"/>
            </a:xfrm>
            <a:custGeom>
              <a:avLst/>
              <a:gdLst/>
              <a:ahLst/>
              <a:cxnLst/>
              <a:rect r="r" b="b" t="t" l="l"/>
              <a:pathLst>
                <a:path h="304858" w="252200">
                  <a:moveTo>
                    <a:pt x="0" y="0"/>
                  </a:moveTo>
                  <a:lnTo>
                    <a:pt x="252200" y="0"/>
                  </a:lnTo>
                  <a:lnTo>
                    <a:pt x="252200" y="304857"/>
                  </a:lnTo>
                  <a:lnTo>
                    <a:pt x="0" y="304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63921" y="4926041"/>
            <a:ext cx="3746706" cy="374670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gradFill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0108" lIns="40108" bIns="40108" rIns="40108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334452" y="4926041"/>
            <a:ext cx="3746706" cy="374670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0108" lIns="40108" bIns="40108" rIns="40108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205912" y="4926041"/>
            <a:ext cx="3746706" cy="3746706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gradFill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0108" lIns="40108" bIns="40108" rIns="40108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077373" y="4926041"/>
            <a:ext cx="3746706" cy="3746706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0108" lIns="40108" bIns="40108" rIns="40108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345222" y="6298535"/>
            <a:ext cx="1984104" cy="261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</a:pPr>
            <a:r>
              <a:rPr lang="en-US" b="true" sz="1551" spc="-4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VISIT DISTRIBUTION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24549" y="6765742"/>
            <a:ext cx="2425450" cy="842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54"/>
              </a:lnSpc>
            </a:pPr>
            <a:r>
              <a:rPr lang="en-US" sz="1282" spc="-3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Histogram showing frequency distribution of doctor visits across 5,190 records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215753" y="6047923"/>
            <a:ext cx="1984104" cy="512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</a:pPr>
            <a:r>
              <a:rPr lang="en-US" b="true" sz="1551" spc="-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CORRELATION HEATMAP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995080" y="6975292"/>
            <a:ext cx="2425450" cy="633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54"/>
              </a:lnSpc>
            </a:pPr>
            <a:r>
              <a:rPr lang="en-US" sz="1282" spc="-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Heatmap revealing reduced (0.403) as strongest predictor of doctor visits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01910" y="6047923"/>
            <a:ext cx="2354710" cy="512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</a:pPr>
            <a:r>
              <a:rPr lang="en-US" b="true" sz="1551" spc="-4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COMPARATIVE ANALYSIS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66540" y="6975292"/>
            <a:ext cx="2425450" cy="633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54"/>
              </a:lnSpc>
            </a:pPr>
            <a:r>
              <a:rPr lang="en-US" sz="1282" spc="-3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Bar charts comparing visits by gender, insurance status, and chronic conditions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958674" y="6047923"/>
            <a:ext cx="1984104" cy="512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</a:pPr>
            <a:r>
              <a:rPr lang="en-US" b="true" sz="1551" spc="-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AGE &amp; INCOME PLOTS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738001" y="6765742"/>
            <a:ext cx="2425450" cy="842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54"/>
              </a:lnSpc>
            </a:pPr>
            <a:r>
              <a:rPr lang="en-US" sz="1282" spc="-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Scatter and box plots exploring age (0.124) and income (-0.077) vs. visit frequency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4176506" y="4926023"/>
            <a:ext cx="746986" cy="747004"/>
            <a:chOff x="0" y="0"/>
            <a:chExt cx="995981" cy="996005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995981" cy="996005"/>
              <a:chOff x="0" y="0"/>
              <a:chExt cx="812800" cy="812819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19"/>
              </a:xfrm>
              <a:custGeom>
                <a:avLst/>
                <a:gdLst/>
                <a:ahLst/>
                <a:cxnLst/>
                <a:rect r="r" b="b" t="t" l="l"/>
                <a:pathLst>
                  <a:path h="812819" w="812800">
                    <a:moveTo>
                      <a:pt x="406400" y="0"/>
                    </a:moveTo>
                    <a:cubicBezTo>
                      <a:pt x="181951" y="0"/>
                      <a:pt x="0" y="181956"/>
                      <a:pt x="0" y="406410"/>
                    </a:cubicBezTo>
                    <a:cubicBezTo>
                      <a:pt x="0" y="630864"/>
                      <a:pt x="181951" y="812819"/>
                      <a:pt x="406400" y="812819"/>
                    </a:cubicBezTo>
                    <a:cubicBezTo>
                      <a:pt x="630849" y="812819"/>
                      <a:pt x="812800" y="630864"/>
                      <a:pt x="812800" y="406410"/>
                    </a:cubicBezTo>
                    <a:cubicBezTo>
                      <a:pt x="812800" y="181956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38102"/>
                <a:ext cx="660400" cy="6985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175623" y="235561"/>
              <a:ext cx="644736" cy="486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0"/>
                </a:lnSpc>
              </a:pPr>
              <a:r>
                <a:rPr lang="en-US" sz="2225" spc="-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047037" y="4926023"/>
            <a:ext cx="746986" cy="747004"/>
            <a:chOff x="0" y="0"/>
            <a:chExt cx="995981" cy="996005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995981" cy="996005"/>
              <a:chOff x="0" y="0"/>
              <a:chExt cx="812800" cy="812819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19"/>
              </a:xfrm>
              <a:custGeom>
                <a:avLst/>
                <a:gdLst/>
                <a:ahLst/>
                <a:cxnLst/>
                <a:rect r="r" b="b" t="t" l="l"/>
                <a:pathLst>
                  <a:path h="812819" w="812800">
                    <a:moveTo>
                      <a:pt x="406400" y="0"/>
                    </a:moveTo>
                    <a:cubicBezTo>
                      <a:pt x="181951" y="0"/>
                      <a:pt x="0" y="181956"/>
                      <a:pt x="0" y="406410"/>
                    </a:cubicBezTo>
                    <a:cubicBezTo>
                      <a:pt x="0" y="630864"/>
                      <a:pt x="181951" y="812819"/>
                      <a:pt x="406400" y="812819"/>
                    </a:cubicBezTo>
                    <a:cubicBezTo>
                      <a:pt x="630849" y="812819"/>
                      <a:pt x="812800" y="630864"/>
                      <a:pt x="812800" y="406410"/>
                    </a:cubicBezTo>
                    <a:cubicBezTo>
                      <a:pt x="812800" y="181956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sq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76200" y="38102"/>
                <a:ext cx="660400" cy="6985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175623" y="235561"/>
              <a:ext cx="644736" cy="486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0"/>
                </a:lnSpc>
              </a:pPr>
              <a:r>
                <a:rPr lang="en-US" sz="2225" spc="-6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"/>
                  <a:ea typeface="Poppins"/>
                  <a:cs typeface="Poppins"/>
                  <a:sym typeface="Poppins"/>
                </a:rPr>
                <a:t>02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919608" y="4926023"/>
            <a:ext cx="746986" cy="747004"/>
            <a:chOff x="0" y="0"/>
            <a:chExt cx="995981" cy="996005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0"/>
              <a:ext cx="995981" cy="996005"/>
              <a:chOff x="0" y="0"/>
              <a:chExt cx="812800" cy="812819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812819"/>
              </a:xfrm>
              <a:custGeom>
                <a:avLst/>
                <a:gdLst/>
                <a:ahLst/>
                <a:cxnLst/>
                <a:rect r="r" b="b" t="t" l="l"/>
                <a:pathLst>
                  <a:path h="812819" w="812800">
                    <a:moveTo>
                      <a:pt x="406400" y="0"/>
                    </a:moveTo>
                    <a:cubicBezTo>
                      <a:pt x="181951" y="0"/>
                      <a:pt x="0" y="181956"/>
                      <a:pt x="0" y="406410"/>
                    </a:cubicBezTo>
                    <a:cubicBezTo>
                      <a:pt x="0" y="630864"/>
                      <a:pt x="181951" y="812819"/>
                      <a:pt x="406400" y="812819"/>
                    </a:cubicBezTo>
                    <a:cubicBezTo>
                      <a:pt x="630849" y="812819"/>
                      <a:pt x="812800" y="630864"/>
                      <a:pt x="812800" y="406410"/>
                    </a:cubicBezTo>
                    <a:cubicBezTo>
                      <a:pt x="812800" y="181956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76200" y="38102"/>
                <a:ext cx="660400" cy="6985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4" id="44"/>
            <p:cNvSpPr txBox="true"/>
            <p:nvPr/>
          </p:nvSpPr>
          <p:spPr>
            <a:xfrm rot="0">
              <a:off x="175623" y="235561"/>
              <a:ext cx="644736" cy="486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0"/>
                </a:lnSpc>
              </a:pPr>
              <a:r>
                <a:rPr lang="en-US" sz="2225" spc="-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5791068" y="4926023"/>
            <a:ext cx="746986" cy="747004"/>
            <a:chOff x="0" y="0"/>
            <a:chExt cx="995981" cy="996005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0" y="0"/>
              <a:ext cx="995981" cy="996005"/>
              <a:chOff x="0" y="0"/>
              <a:chExt cx="812800" cy="812819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12800" cy="812819"/>
              </a:xfrm>
              <a:custGeom>
                <a:avLst/>
                <a:gdLst/>
                <a:ahLst/>
                <a:cxnLst/>
                <a:rect r="r" b="b" t="t" l="l"/>
                <a:pathLst>
                  <a:path h="812819" w="812800">
                    <a:moveTo>
                      <a:pt x="406400" y="0"/>
                    </a:moveTo>
                    <a:cubicBezTo>
                      <a:pt x="181951" y="0"/>
                      <a:pt x="0" y="181956"/>
                      <a:pt x="0" y="406410"/>
                    </a:cubicBezTo>
                    <a:cubicBezTo>
                      <a:pt x="0" y="630864"/>
                      <a:pt x="181951" y="812819"/>
                      <a:pt x="406400" y="812819"/>
                    </a:cubicBezTo>
                    <a:cubicBezTo>
                      <a:pt x="630849" y="812819"/>
                      <a:pt x="812800" y="630864"/>
                      <a:pt x="812800" y="406410"/>
                    </a:cubicBezTo>
                    <a:cubicBezTo>
                      <a:pt x="812800" y="181956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sq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76200" y="38102"/>
                <a:ext cx="660400" cy="6985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9" id="49"/>
            <p:cNvSpPr txBox="true"/>
            <p:nvPr/>
          </p:nvSpPr>
          <p:spPr>
            <a:xfrm rot="0">
              <a:off x="175623" y="235561"/>
              <a:ext cx="644736" cy="486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0"/>
                </a:lnSpc>
              </a:pPr>
              <a:r>
                <a:rPr lang="en-US" sz="2225" spc="-6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"/>
                  <a:ea typeface="Poppins"/>
                  <a:cs typeface="Poppins"/>
                  <a:sym typeface="Poppins"/>
                </a:rPr>
                <a:t>04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3363658" y="1531339"/>
            <a:ext cx="11560683" cy="1273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96"/>
              </a:lnSpc>
            </a:pPr>
            <a:r>
              <a:rPr lang="en-US" sz="9792" spc="-626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Visualizations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92056" y="1525863"/>
            <a:ext cx="47625" cy="2040668"/>
            <a:chOff x="0" y="0"/>
            <a:chExt cx="12543" cy="5374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537460"/>
            </a:xfrm>
            <a:custGeom>
              <a:avLst/>
              <a:gdLst/>
              <a:ahLst/>
              <a:cxnLst/>
              <a:rect r="r" b="b" t="t" l="l"/>
              <a:pathLst>
                <a:path h="537460" w="12543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492056" y="4485448"/>
            <a:ext cx="7106119" cy="374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86"/>
              </a:lnSpc>
            </a:pPr>
            <a:r>
              <a:rPr lang="en-US" b="true" sz="2132" spc="-53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SUMMARIZED FINDINGS &amp; PRACTICAL INTERPRETATION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8687136">
            <a:off x="15580115" y="4542838"/>
            <a:ext cx="189150" cy="228643"/>
          </a:xfrm>
          <a:custGeom>
            <a:avLst/>
            <a:gdLst/>
            <a:ahLst/>
            <a:cxnLst/>
            <a:rect r="r" b="b" t="t" l="l"/>
            <a:pathLst>
              <a:path h="228643" w="189150">
                <a:moveTo>
                  <a:pt x="0" y="0"/>
                </a:moveTo>
                <a:lnTo>
                  <a:pt x="189150" y="0"/>
                </a:lnTo>
                <a:lnTo>
                  <a:pt x="189150" y="228644"/>
                </a:lnTo>
                <a:lnTo>
                  <a:pt x="0" y="228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0" y="0"/>
            <a:ext cx="6352295" cy="10287000"/>
            <a:chOff x="0" y="0"/>
            <a:chExt cx="984137" cy="15937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84137" cy="1593725"/>
            </a:xfrm>
            <a:custGeom>
              <a:avLst/>
              <a:gdLst/>
              <a:ahLst/>
              <a:cxnLst/>
              <a:rect r="r" b="b" t="t" l="l"/>
              <a:pathLst>
                <a:path h="1593725" w="984137">
                  <a:moveTo>
                    <a:pt x="0" y="0"/>
                  </a:moveTo>
                  <a:lnTo>
                    <a:pt x="984137" y="0"/>
                  </a:lnTo>
                  <a:lnTo>
                    <a:pt x="984137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4"/>
              <a:stretch>
                <a:fillRect l="-303" t="0" r="-303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438046" y="94549"/>
            <a:ext cx="1849954" cy="1753617"/>
            <a:chOff x="0" y="0"/>
            <a:chExt cx="2466605" cy="233815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466605" cy="2338156"/>
              <a:chOff x="0" y="0"/>
              <a:chExt cx="787566" cy="74655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87566" cy="746553"/>
              </a:xfrm>
              <a:custGeom>
                <a:avLst/>
                <a:gdLst/>
                <a:ahLst/>
                <a:cxnLst/>
                <a:rect r="r" b="b" t="t" l="l"/>
                <a:pathLst>
                  <a:path h="746553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46553"/>
                    </a:lnTo>
                    <a:lnTo>
                      <a:pt x="0" y="74655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787566" cy="7846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19164" y="684524"/>
              <a:ext cx="1828278" cy="10834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782"/>
                </a:lnSpc>
              </a:pPr>
              <a:r>
                <a:rPr lang="en-US" sz="5900" spc="-377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09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flipH="true">
            <a:off x="6542795" y="0"/>
            <a:ext cx="0" cy="10287000"/>
          </a:xfrm>
          <a:prstGeom prst="line">
            <a:avLst/>
          </a:prstGeom>
          <a:ln cap="rnd" w="19050">
            <a:solidFill>
              <a:srgbClr val="3A58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5177017" y="5870652"/>
            <a:ext cx="2350556" cy="457290"/>
          </a:xfrm>
          <a:custGeom>
            <a:avLst/>
            <a:gdLst/>
            <a:ahLst/>
            <a:cxnLst/>
            <a:rect r="r" b="b" t="t" l="l"/>
            <a:pathLst>
              <a:path h="457290" w="2350556">
                <a:moveTo>
                  <a:pt x="0" y="0"/>
                </a:moveTo>
                <a:lnTo>
                  <a:pt x="2350556" y="0"/>
                </a:lnTo>
                <a:lnTo>
                  <a:pt x="2350556" y="457290"/>
                </a:lnTo>
                <a:lnTo>
                  <a:pt x="0" y="4572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5262566" y="3959058"/>
            <a:ext cx="2152019" cy="2149322"/>
            <a:chOff x="0" y="0"/>
            <a:chExt cx="567580" cy="56686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7580" cy="566868"/>
            </a:xfrm>
            <a:custGeom>
              <a:avLst/>
              <a:gdLst/>
              <a:ahLst/>
              <a:cxnLst/>
              <a:rect r="r" b="b" t="t" l="l"/>
              <a:pathLst>
                <a:path h="566868" w="567580">
                  <a:moveTo>
                    <a:pt x="161888" y="0"/>
                  </a:moveTo>
                  <a:lnTo>
                    <a:pt x="405691" y="0"/>
                  </a:lnTo>
                  <a:cubicBezTo>
                    <a:pt x="495100" y="0"/>
                    <a:pt x="567580" y="72480"/>
                    <a:pt x="567580" y="161888"/>
                  </a:cubicBezTo>
                  <a:lnTo>
                    <a:pt x="567580" y="404980"/>
                  </a:lnTo>
                  <a:cubicBezTo>
                    <a:pt x="567580" y="494389"/>
                    <a:pt x="495100" y="566868"/>
                    <a:pt x="405691" y="566868"/>
                  </a:cubicBezTo>
                  <a:lnTo>
                    <a:pt x="161888" y="566868"/>
                  </a:lnTo>
                  <a:cubicBezTo>
                    <a:pt x="72480" y="566868"/>
                    <a:pt x="0" y="494389"/>
                    <a:pt x="0" y="404980"/>
                  </a:cubicBezTo>
                  <a:lnTo>
                    <a:pt x="0" y="161888"/>
                  </a:lnTo>
                  <a:cubicBezTo>
                    <a:pt x="0" y="72480"/>
                    <a:pt x="72480" y="0"/>
                    <a:pt x="16188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567580" cy="538293"/>
            </a:xfrm>
            <a:prstGeom prst="rect">
              <a:avLst/>
            </a:prstGeom>
          </p:spPr>
          <p:txBody>
            <a:bodyPr anchor="ctr" rtlCol="false" tIns="48445" lIns="48445" bIns="48445" rIns="48445"/>
            <a:lstStyle/>
            <a:p>
              <a:pPr algn="ctr" marL="0" indent="0" lvl="0">
                <a:lnSpc>
                  <a:spcPts val="246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5602320" y="4435296"/>
            <a:ext cx="1499950" cy="440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08"/>
              </a:lnSpc>
            </a:pPr>
            <a:r>
              <a:rPr lang="en-US" b="true" sz="3341" spc="-10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KEY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746312" y="5274096"/>
            <a:ext cx="1211966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</a:pPr>
            <a:r>
              <a:rPr lang="en-US" sz="1199" spc="-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TAKEAWAY SUMMARY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720122" y="2609329"/>
            <a:ext cx="5780387" cy="128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3"/>
              </a:lnSpc>
            </a:pPr>
            <a:r>
              <a:rPr lang="en-US" sz="9799" spc="-627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Conclusion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492056" y="4772418"/>
            <a:ext cx="7325824" cy="2202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486"/>
              </a:lnSpc>
            </a:pPr>
            <a:r>
              <a:rPr lang="en-US" sz="1775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Analysis of 5,190 patient records revealed that health status and physical activity are the strongest predictors of doctor visit frequency. Reduced activity (r=0.403) showed the highest correlation, followed by illness days (r=0.185) and poor health (r=0.149). These findings suggest behavioral and clinical factors drive healthcare utilization more than socioeconomic variables like income.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274055" y="6259083"/>
            <a:ext cx="5481943" cy="2831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486"/>
              </a:lnSpc>
            </a:pPr>
            <a:r>
              <a:rPr lang="en-US" sz="1775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Reduced activity is the top driver of doctor visits</a:t>
            </a:r>
          </a:p>
          <a:p>
            <a:pPr algn="just" marL="0" indent="0" lvl="0">
              <a:lnSpc>
                <a:spcPts val="2486"/>
              </a:lnSpc>
            </a:pPr>
            <a:r>
              <a:rPr lang="en-US" sz="1775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Illness frequency and poor health are key indicators</a:t>
            </a:r>
          </a:p>
          <a:p>
            <a:pPr algn="just" marL="0" indent="0" lvl="0">
              <a:lnSpc>
                <a:spcPts val="2486"/>
              </a:lnSpc>
            </a:pPr>
            <a:r>
              <a:rPr lang="en-US" sz="1775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Age and income show modest but notable influence</a:t>
            </a:r>
          </a:p>
          <a:p>
            <a:pPr algn="just" marL="0" indent="0" lvl="0">
              <a:lnSpc>
                <a:spcPts val="2486"/>
              </a:lnSpc>
            </a:pPr>
            <a:r>
              <a:rPr lang="en-US" sz="1775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Insurance status does not strongly predict visit frequency</a:t>
            </a:r>
          </a:p>
          <a:p>
            <a:pPr algn="just" marL="0" indent="0" lvl="0">
              <a:lnSpc>
                <a:spcPts val="2486"/>
              </a:lnSpc>
            </a:pPr>
            <a:r>
              <a:rPr lang="en-US" sz="1775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Findings support patient-centered, preventive care strategies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41386" y="0"/>
            <a:ext cx="4646614" cy="10287000"/>
            <a:chOff x="0" y="0"/>
            <a:chExt cx="1223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3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23800">
                  <a:moveTo>
                    <a:pt x="0" y="0"/>
                  </a:moveTo>
                  <a:lnTo>
                    <a:pt x="1223800" y="0"/>
                  </a:lnTo>
                  <a:lnTo>
                    <a:pt x="122380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2380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102839" y="1172167"/>
            <a:ext cx="1723707" cy="7559769"/>
            <a:chOff x="0" y="0"/>
            <a:chExt cx="2298277" cy="100796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51979" y="0"/>
              <a:ext cx="981294" cy="947395"/>
            </a:xfrm>
            <a:custGeom>
              <a:avLst/>
              <a:gdLst/>
              <a:ahLst/>
              <a:cxnLst/>
              <a:rect r="r" b="b" t="t" l="l"/>
              <a:pathLst>
                <a:path h="947395" w="981294">
                  <a:moveTo>
                    <a:pt x="0" y="0"/>
                  </a:moveTo>
                  <a:lnTo>
                    <a:pt x="981294" y="0"/>
                  </a:lnTo>
                  <a:lnTo>
                    <a:pt x="981294" y="947395"/>
                  </a:lnTo>
                  <a:lnTo>
                    <a:pt x="0" y="947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0" y="1263035"/>
              <a:ext cx="2272228" cy="3190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73"/>
                </a:lnSpc>
              </a:pPr>
              <a:r>
                <a:rPr lang="en-US" b="true" sz="1657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Healthcare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3024" y="1591614"/>
              <a:ext cx="2272228" cy="3190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73"/>
                </a:lnSpc>
              </a:pPr>
              <a:r>
                <a:rPr lang="en-US" sz="1657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Analytics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3024" y="9432059"/>
              <a:ext cx="2272228" cy="3190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73"/>
                </a:lnSpc>
              </a:pPr>
              <a:r>
                <a:rPr lang="en-US" b="true" sz="1657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10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26049" y="9760638"/>
              <a:ext cx="2272228" cy="3190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73"/>
                </a:lnSpc>
              </a:pPr>
              <a:r>
                <a:rPr lang="en-US" sz="1657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of 10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28700" y="7308293"/>
            <a:ext cx="441831" cy="441831"/>
          </a:xfrm>
          <a:custGeom>
            <a:avLst/>
            <a:gdLst/>
            <a:ahLst/>
            <a:cxnLst/>
            <a:rect r="r" b="b" t="t" l="l"/>
            <a:pathLst>
              <a:path h="441831" w="441831">
                <a:moveTo>
                  <a:pt x="0" y="0"/>
                </a:moveTo>
                <a:lnTo>
                  <a:pt x="441831" y="0"/>
                </a:lnTo>
                <a:lnTo>
                  <a:pt x="441831" y="441831"/>
                </a:lnTo>
                <a:lnTo>
                  <a:pt x="0" y="4418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7988737"/>
            <a:ext cx="441831" cy="441831"/>
          </a:xfrm>
          <a:custGeom>
            <a:avLst/>
            <a:gdLst/>
            <a:ahLst/>
            <a:cxnLst/>
            <a:rect r="r" b="b" t="t" l="l"/>
            <a:pathLst>
              <a:path h="441831" w="441831">
                <a:moveTo>
                  <a:pt x="0" y="0"/>
                </a:moveTo>
                <a:lnTo>
                  <a:pt x="441831" y="0"/>
                </a:lnTo>
                <a:lnTo>
                  <a:pt x="441831" y="441831"/>
                </a:lnTo>
                <a:lnTo>
                  <a:pt x="0" y="4418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28700" y="8673002"/>
            <a:ext cx="441831" cy="441831"/>
          </a:xfrm>
          <a:custGeom>
            <a:avLst/>
            <a:gdLst/>
            <a:ahLst/>
            <a:cxnLst/>
            <a:rect r="r" b="b" t="t" l="l"/>
            <a:pathLst>
              <a:path h="441831" w="441831">
                <a:moveTo>
                  <a:pt x="0" y="0"/>
                </a:moveTo>
                <a:lnTo>
                  <a:pt x="441831" y="0"/>
                </a:lnTo>
                <a:lnTo>
                  <a:pt x="441831" y="441831"/>
                </a:lnTo>
                <a:lnTo>
                  <a:pt x="0" y="4418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8986465" y="0"/>
            <a:ext cx="4378150" cy="10287000"/>
            <a:chOff x="0" y="0"/>
            <a:chExt cx="678290" cy="15937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78290" cy="1593725"/>
            </a:xfrm>
            <a:custGeom>
              <a:avLst/>
              <a:gdLst/>
              <a:ahLst/>
              <a:cxnLst/>
              <a:rect r="r" b="b" t="t" l="l"/>
              <a:pathLst>
                <a:path h="1593725" w="678290">
                  <a:moveTo>
                    <a:pt x="0" y="0"/>
                  </a:moveTo>
                  <a:lnTo>
                    <a:pt x="678290" y="0"/>
                  </a:lnTo>
                  <a:lnTo>
                    <a:pt x="678290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10"/>
              <a:stretch>
                <a:fillRect l="0" t="-218" r="0" b="-218"/>
              </a:stretch>
            </a:blipFill>
          </p:spPr>
        </p:sp>
      </p:grpSp>
      <p:sp>
        <p:nvSpPr>
          <p:cNvPr name="AutoShape 16" id="16"/>
          <p:cNvSpPr/>
          <p:nvPr/>
        </p:nvSpPr>
        <p:spPr>
          <a:xfrm>
            <a:off x="13503000" y="0"/>
            <a:ext cx="0" cy="10287000"/>
          </a:xfrm>
          <a:prstGeom prst="line">
            <a:avLst/>
          </a:prstGeom>
          <a:ln cap="rnd" w="19050">
            <a:solidFill>
              <a:srgbClr val="3A58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14650619" y="4168380"/>
            <a:ext cx="2628148" cy="2791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849"/>
              </a:lnSpc>
            </a:pPr>
            <a:r>
              <a:rPr lang="en-US" sz="1321" spc="-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Limitations: Correlation is not causation — observed relationships do not imply direct cause and effect. Self-reported data may introduce bias. Cross-sectional design limits temporal inference.</a:t>
            </a:r>
          </a:p>
          <a:p>
            <a:pPr algn="just" marL="0" indent="0" lvl="0">
              <a:lnSpc>
                <a:spcPts val="1849"/>
              </a:lnSpc>
            </a:pPr>
            <a:r>
              <a:rPr lang="en-US" sz="1321" spc="-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Future Work: Develop predictive models (regression, ML). Apply statistical hypothesis testing. Expand dataset for broader generalizability.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38585" y="7324490"/>
            <a:ext cx="2891575" cy="312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4"/>
              </a:lnSpc>
            </a:pPr>
            <a:r>
              <a:rPr lang="en-US" sz="2021" spc="-76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"/>
                <a:ea typeface="Poppins"/>
                <a:cs typeface="Poppins"/>
                <a:sym typeface="Poppins"/>
              </a:rPr>
              <a:t>Python, Pandas, NumPy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38585" y="7992073"/>
            <a:ext cx="5248389" cy="312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4"/>
              </a:lnSpc>
            </a:pPr>
            <a:r>
              <a:rPr lang="en-US" sz="2021" spc="-76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"/>
                <a:ea typeface="Poppins"/>
                <a:cs typeface="Poppins"/>
                <a:sym typeface="Poppins"/>
              </a:rPr>
              <a:t>Matplotlib, Seaborn, Google Colab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38585" y="8689199"/>
            <a:ext cx="4805157" cy="312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4"/>
              </a:lnSpc>
            </a:pPr>
            <a:r>
              <a:rPr lang="en-US" sz="2021" spc="-76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"/>
                <a:ea typeface="Poppins"/>
                <a:cs typeface="Poppins"/>
                <a:sym typeface="Poppins"/>
              </a:rPr>
              <a:t>Avx Sharma — Doctor Visits EDA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857250"/>
            <a:ext cx="6671890" cy="1460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905"/>
              </a:lnSpc>
              <a:spcBef>
                <a:spcPct val="0"/>
              </a:spcBef>
            </a:pPr>
            <a:r>
              <a:rPr lang="en-US" b="true" sz="8504" spc="-544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Thank You!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2316167"/>
            <a:ext cx="6671890" cy="3237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333"/>
              </a:lnSpc>
            </a:pPr>
            <a:r>
              <a:rPr lang="en-US" sz="8504" spc="-544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Limitations</a:t>
            </a:r>
          </a:p>
          <a:p>
            <a:pPr algn="just" marL="0" indent="0" lvl="0">
              <a:lnSpc>
                <a:spcPts val="8333"/>
              </a:lnSpc>
            </a:pPr>
            <a:r>
              <a:rPr lang="en-US" sz="8504" spc="-544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&amp; Future</a:t>
            </a:r>
          </a:p>
          <a:p>
            <a:pPr algn="just" marL="0" indent="0" lvl="0">
              <a:lnSpc>
                <a:spcPts val="8333"/>
              </a:lnSpc>
            </a:pPr>
            <a:r>
              <a:rPr lang="en-US" sz="8504" spc="-544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DAHTtWJj33w</dc:identifier>
  <dcterms:modified xsi:type="dcterms:W3CDTF">2011-08-01T06:04:30Z</dcterms:modified>
  <cp:revision>1</cp:revision>
  <dc:title>Healthcare Doctor Visit Analytics Summary</dc:title>
</cp:coreProperties>
</file>