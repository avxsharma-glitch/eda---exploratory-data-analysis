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Car Market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Exploratory Data Analysis and Selling Price Prediction using CarDekho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Dataset-driven analysis of used-car pricing, demand patterns, depreciation, and key price drivers.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749039"/>
            <a:ext cx="320040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299</a:t>
            </a:r>
          </a:p>
          <a:p>
            <a:pPr algn="ctr">
              <a:defRPr sz="1100"/>
            </a:pPr>
            <a:r>
              <a:t>Cleaned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749039"/>
            <a:ext cx="320040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₹4.59 Lakhs lakh</a:t>
            </a:r>
          </a:p>
          <a:p>
            <a:pPr algn="ctr">
              <a:defRPr sz="1100"/>
            </a:pPr>
            <a:r>
              <a:t>Average selling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19" y="3749039"/>
            <a:ext cx="320040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Random Forest</a:t>
            </a:r>
          </a:p>
          <a:p>
            <a:pPr algn="ctr">
              <a:defRPr sz="1100"/>
            </a:pPr>
            <a:r>
              <a:t>Primary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Analyze used-car market patterns using CarDekho data.</a:t>
            </a:r>
          </a:p>
          <a:p>
            <a:pPr>
              <a:spcAft>
                <a:spcPts val="1400"/>
              </a:spcAft>
              <a:defRPr sz="1800"/>
            </a:pPr>
            <a:r>
              <a:t>Understand how fuel type, seller type, transmission, age, and mileage relate to selling price.</a:t>
            </a:r>
          </a:p>
          <a:p>
            <a:pPr>
              <a:spcAft>
                <a:spcPts val="1400"/>
              </a:spcAft>
              <a:defRPr sz="1800"/>
            </a:pPr>
            <a:r>
              <a:t>Engineer Car_Age and Depreciation_Percentage features.</a:t>
            </a:r>
          </a:p>
          <a:p>
            <a:pPr>
              <a:spcAft>
                <a:spcPts val="1400"/>
              </a:spcAft>
              <a:defRPr sz="1800"/>
            </a:pPr>
            <a:r>
              <a:t>Build a machine-learning model to predict selling price.</a:t>
            </a:r>
          </a:p>
        </p:txBody>
      </p:sp>
      <p:pic>
        <p:nvPicPr>
          <p:cNvPr id="4" name="Picture 3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Original dataset: 301 records and 9 variables.</a:t>
            </a:r>
          </a:p>
          <a:p>
            <a:pPr>
              <a:spcAft>
                <a:spcPts val="1400"/>
              </a:spcAft>
              <a:defRPr sz="1900"/>
            </a:pPr>
            <a:r>
              <a:t>No missing values were reported in the notebook output.</a:t>
            </a:r>
          </a:p>
          <a:p>
            <a:pPr>
              <a:spcAft>
                <a:spcPts val="1400"/>
              </a:spcAft>
              <a:defRPr sz="1900"/>
            </a:pPr>
            <a:r>
              <a:t>2 duplicate rows were removed.</a:t>
            </a:r>
          </a:p>
          <a:p>
            <a:pPr>
              <a:spcAft>
                <a:spcPts val="1400"/>
              </a:spcAft>
              <a:defRPr sz="1900"/>
            </a:pPr>
            <a:r>
              <a:t>Final analysis dataset: 299 records.</a:t>
            </a:r>
          </a:p>
          <a:p>
            <a:pPr>
              <a:spcAft>
                <a:spcPts val="1400"/>
              </a:spcAft>
              <a:defRPr sz="1900"/>
            </a:pPr>
            <a:r>
              <a:t>Created Car_Age using 2026 − Year.</a:t>
            </a:r>
          </a:p>
          <a:p>
            <a:pPr>
              <a:spcAft>
                <a:spcPts val="1400"/>
              </a:spcAft>
              <a:defRPr sz="1900"/>
            </a:pPr>
            <a:r>
              <a:t>Calculated depreciation from Present_Price and Selling_Price.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45920"/>
            <a:ext cx="292608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301</a:t>
            </a:r>
          </a:p>
          <a:p>
            <a:pPr algn="ctr">
              <a:defRPr sz="1100"/>
            </a:pPr>
            <a:r>
              <a:t>Original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3200400"/>
            <a:ext cx="292608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</a:t>
            </a:r>
          </a:p>
          <a:p>
            <a:pPr algn="ctr">
              <a:defRPr sz="1100"/>
            </a:pPr>
            <a:r>
              <a:t>Duplicates removed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754880"/>
            <a:ext cx="292608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299</a:t>
            </a:r>
          </a:p>
          <a:p>
            <a:pPr algn="ctr">
              <a:defRPr sz="1100"/>
            </a:pPr>
            <a:r>
              <a:t>Final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Composition: Models &amp; Fuel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The analysis identifies the most frequently occurring car models in the dataset.</a:t>
            </a:r>
          </a:p>
          <a:p>
            <a:pPr>
              <a:spcAft>
                <a:spcPts val="1400"/>
              </a:spcAft>
              <a:defRPr sz="1700"/>
            </a:pPr>
            <a:r>
              <a:t>Most common fuel type: Petrol.</a:t>
            </a:r>
          </a:p>
          <a:p>
            <a:pPr>
              <a:spcAft>
                <a:spcPts val="1400"/>
              </a:spcAft>
              <a:defRPr sz="1700"/>
            </a:pPr>
            <a:r>
              <a:t>Fuel composition is shown as a dataset distribution, not as a live market-share estimate.</a:t>
            </a:r>
          </a:p>
        </p:txBody>
      </p:sp>
      <p:pic>
        <p:nvPicPr>
          <p:cNvPr id="4" name="Picture 3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5880"/>
            <a:ext cx="3566160" cy="4480560"/>
          </a:xfrm>
          <a:prstGeom prst="rect">
            <a:avLst/>
          </a:prstGeom>
        </p:spPr>
      </p:pic>
      <p:pic>
        <p:nvPicPr>
          <p:cNvPr id="5" name="Picture 4" descr="chart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25880"/>
            <a:ext cx="3383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Selling Price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Average selling price: ₹4.59 Lakhs lakh.</a:t>
            </a:r>
          </a:p>
          <a:p>
            <a:pPr>
              <a:spcAft>
                <a:spcPts val="1400"/>
              </a:spcAft>
              <a:defRPr sz="1900"/>
            </a:pPr>
            <a:r>
              <a:t>The dataset spans a wide price range, so a small number of high-priced cars can influence the average.</a:t>
            </a:r>
          </a:p>
          <a:p>
            <a:pPr>
              <a:spcAft>
                <a:spcPts val="1400"/>
              </a:spcAft>
              <a:defRPr sz="1900"/>
            </a:pPr>
            <a:r>
              <a:t>Median price in the original notebook output was ₹3.60 lakh.</a:t>
            </a:r>
          </a:p>
        </p:txBody>
      </p:sp>
      <p:pic>
        <p:nvPicPr>
          <p:cNvPr id="4" name="Picture 3" descr="char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34440"/>
            <a:ext cx="6400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Price Segmentation by Vehicle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8016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Most common seller type: Dealer.</a:t>
            </a:r>
          </a:p>
          <a:p>
            <a:pPr>
              <a:spcAft>
                <a:spcPts val="1400"/>
              </a:spcAft>
              <a:defRPr sz="1600"/>
            </a:pPr>
            <a:r>
              <a:t>Most common transmission: Manual.</a:t>
            </a:r>
          </a:p>
          <a:p>
            <a:pPr>
              <a:spcAft>
                <a:spcPts val="1400"/>
              </a:spcAft>
              <a:defRPr sz="1600"/>
            </a:pPr>
            <a:r>
              <a:t>Average selling prices were compared across fuel type, seller type, and transmission.</a:t>
            </a:r>
          </a:p>
        </p:txBody>
      </p:sp>
      <p:pic>
        <p:nvPicPr>
          <p:cNvPr id="4" name="Picture 3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188720"/>
            <a:ext cx="2560320" cy="4754880"/>
          </a:xfrm>
          <a:prstGeom prst="rect">
            <a:avLst/>
          </a:prstGeom>
        </p:spPr>
      </p:pic>
      <p:pic>
        <p:nvPicPr>
          <p:cNvPr id="5" name="Picture 4" descr="chart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188720"/>
            <a:ext cx="2560320" cy="4754880"/>
          </a:xfrm>
          <a:prstGeom prst="rect">
            <a:avLst/>
          </a:prstGeom>
        </p:spPr>
      </p:pic>
      <p:pic>
        <p:nvPicPr>
          <p:cNvPr id="6" name="Picture 5" descr="chart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188720"/>
            <a:ext cx="2560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Price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Present price is directly compared with selling price to examine resale value.</a:t>
            </a:r>
          </a:p>
          <a:p>
            <a:pPr>
              <a:spcAft>
                <a:spcPts val="1400"/>
              </a:spcAft>
              <a:defRPr sz="1600"/>
            </a:pPr>
            <a:r>
              <a:t>Car age is analyzed against selling price to study depreciation over time.</a:t>
            </a:r>
          </a:p>
          <a:p>
            <a:pPr>
              <a:spcAft>
                <a:spcPts val="1400"/>
              </a:spcAft>
              <a:defRPr sz="1600"/>
            </a:pPr>
            <a:r>
              <a:t>Kilometers driven is analyzed as a usage indicator.</a:t>
            </a:r>
          </a:p>
          <a:p>
            <a:pPr>
              <a:spcAft>
                <a:spcPts val="1400"/>
              </a:spcAft>
              <a:defRPr sz="1600"/>
            </a:pPr>
            <a:r>
              <a:t>These relationships are associations within the dataset and do not prove causation.</a:t>
            </a:r>
          </a:p>
        </p:txBody>
      </p:sp>
      <p:pic>
        <p:nvPicPr>
          <p:cNvPr id="4" name="Picture 3" descr="char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188720"/>
            <a:ext cx="2651760" cy="4754880"/>
          </a:xfrm>
          <a:prstGeom prst="rect">
            <a:avLst/>
          </a:prstGeom>
        </p:spPr>
      </p:pic>
      <p:pic>
        <p:nvPicPr>
          <p:cNvPr id="5" name="Picture 4" descr="chart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88720"/>
            <a:ext cx="2651760" cy="4754880"/>
          </a:xfrm>
          <a:prstGeom prst="rect">
            <a:avLst/>
          </a:prstGeom>
        </p:spPr>
      </p:pic>
      <p:pic>
        <p:nvPicPr>
          <p:cNvPr id="6" name="Picture 5" descr="chart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188720"/>
            <a:ext cx="2651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Correlation &amp; Depreciation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Average depreciation: 36.62 %.</a:t>
            </a:r>
          </a:p>
          <a:p>
            <a:pPr>
              <a:spcAft>
                <a:spcPts val="1400"/>
              </a:spcAft>
              <a:defRPr sz="1600"/>
            </a:pPr>
            <a:r>
              <a:t>Correlation analysis focuses on numeric relationships among year, prices, mileage, owner count, car age, and depreciation.</a:t>
            </a:r>
          </a:p>
          <a:p>
            <a:pPr>
              <a:spcAft>
                <a:spcPts val="1400"/>
              </a:spcAft>
              <a:defRPr sz="1600"/>
            </a:pPr>
            <a:r>
              <a:t>Average selling price was also tracked across car-age groups.</a:t>
            </a:r>
          </a:p>
        </p:txBody>
      </p:sp>
      <p:pic>
        <p:nvPicPr>
          <p:cNvPr id="4" name="Picture 3" descr="char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34440"/>
            <a:ext cx="3566160" cy="4846320"/>
          </a:xfrm>
          <a:prstGeom prst="rect">
            <a:avLst/>
          </a:prstGeom>
        </p:spPr>
      </p:pic>
      <p:pic>
        <p:nvPicPr>
          <p:cNvPr id="5" name="Picture 4" descr="chart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234440"/>
            <a:ext cx="35661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Machine Learning: Selling Price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Model: RandomForestRegressor with 200 estimators.</a:t>
            </a:r>
          </a:p>
          <a:p>
            <a:pPr>
              <a:spcAft>
                <a:spcPts val="1400"/>
              </a:spcAft>
              <a:defRPr sz="1800"/>
            </a:pPr>
            <a:r>
              <a:t>Categorical variables were label-encoded.</a:t>
            </a:r>
          </a:p>
          <a:p>
            <a:pPr>
              <a:spcAft>
                <a:spcPts val="1400"/>
              </a:spcAft>
              <a:defRPr sz="1800"/>
            </a:pPr>
            <a:r>
              <a:t>Car_Name was removed because of high uniqueness.</a:t>
            </a:r>
          </a:p>
          <a:p>
            <a:pPr>
              <a:spcAft>
                <a:spcPts val="1400"/>
              </a:spcAft>
              <a:defRPr sz="1800"/>
            </a:pPr>
            <a:r>
              <a:t>Features were split into 80% training and 20% testing data.</a:t>
            </a:r>
          </a:p>
          <a:p>
            <a:pPr>
              <a:spcAft>
                <a:spcPts val="1400"/>
              </a:spcAft>
              <a:defRPr sz="1800"/>
            </a:pPr>
            <a:r>
              <a:t>Depreciation_Percentage was excluded from predictors.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554480"/>
            <a:ext cx="40233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1.555</a:t>
            </a:r>
          </a:p>
          <a:p>
            <a:pPr algn="ctr">
              <a:defRPr sz="1100"/>
            </a:pPr>
            <a:r>
              <a:t>MAE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3063239"/>
            <a:ext cx="40233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3.774</a:t>
            </a:r>
          </a:p>
          <a:p>
            <a:pPr algn="ctr">
              <a:defRPr sz="1100"/>
            </a:pPr>
            <a:r>
              <a:t>RMSE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572000"/>
            <a:ext cx="40233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0.447</a:t>
            </a:r>
          </a:p>
          <a:p>
            <a:pPr algn="ctr">
              <a:defRPr sz="1100"/>
            </a:pPr>
            <a:r>
              <a:t>R² 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Results &amp;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Actual vs predicted values show how closely the model estimates test-set selling prices.</a:t>
            </a:r>
          </a:p>
          <a:p>
            <a:pPr>
              <a:spcAft>
                <a:spcPts val="1400"/>
              </a:spcAft>
              <a:defRPr sz="1600"/>
            </a:pPr>
            <a:r>
              <a:t>Feature importance ranks the predictors used by the Random Forest model.</a:t>
            </a:r>
          </a:p>
          <a:p>
            <a:pPr>
              <a:spcAft>
                <a:spcPts val="1400"/>
              </a:spcAft>
              <a:defRPr sz="1600"/>
            </a:pPr>
            <a:r>
              <a:t>Important limitation: this is a small dataset, so performance should not be generalized without validation on new data.</a:t>
            </a:r>
          </a:p>
        </p:txBody>
      </p:sp>
      <p:pic>
        <p:nvPicPr>
          <p:cNvPr id="4" name="Picture 3" descr="char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3474720" cy="4937760"/>
          </a:xfrm>
          <a:prstGeom prst="rect">
            <a:avLst/>
          </a:prstGeom>
        </p:spPr>
      </p:pic>
      <p:pic>
        <p:nvPicPr>
          <p:cNvPr id="5" name="Picture 4" descr="chart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88720"/>
            <a:ext cx="3474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Final dataset analyzed: 299 used-car records.</a:t>
            </a:r>
          </a:p>
          <a:p>
            <a:pPr>
              <a:spcAft>
                <a:spcPts val="1400"/>
              </a:spcAft>
              <a:defRPr sz="1800"/>
            </a:pPr>
            <a:r>
              <a:t>Average selling price: ₹4.59 Lakhs lakh.</a:t>
            </a:r>
          </a:p>
          <a:p>
            <a:pPr>
              <a:spcAft>
                <a:spcPts val="1400"/>
              </a:spcAft>
              <a:defRPr sz="1800"/>
            </a:pPr>
            <a:r>
              <a:t>Average car age: 12.38 Years years.</a:t>
            </a:r>
          </a:p>
          <a:p>
            <a:pPr>
              <a:spcAft>
                <a:spcPts val="1400"/>
              </a:spcAft>
              <a:defRPr sz="1800"/>
            </a:pPr>
            <a:r>
              <a:t>Dominant categories in this dataset: Petrol fuel, Manual transmission, and Dealer sellers.</a:t>
            </a:r>
          </a:p>
          <a:p>
            <a:pPr>
              <a:spcAft>
                <a:spcPts val="1400"/>
              </a:spcAft>
              <a:defRPr sz="1800"/>
            </a:pPr>
            <a:r>
              <a:t>Resale pricing is multi-factorial: vehicle age, current value, usage, and vehicle characteristics all matter.</a:t>
            </a:r>
          </a:p>
          <a:p>
            <a:pPr>
              <a:spcAft>
                <a:spcPts val="1400"/>
              </a:spcAft>
              <a:defRPr sz="1800"/>
            </a:pPr>
            <a:r>
              <a:t>The findings describe this dataset and should not be treated as current nationwide market statistics.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Exploratory analysis revealed clear variation in used-car prices across vehicle and market attributes.</a:t>
            </a:r>
          </a:p>
          <a:p>
            <a:pPr>
              <a:spcAft>
                <a:spcPts val="1400"/>
              </a:spcAft>
              <a:defRPr sz="2000"/>
            </a:pPr>
            <a:r>
              <a:t>Feature engineering made age and depreciation easier to analyze.</a:t>
            </a:r>
          </a:p>
          <a:p>
            <a:pPr>
              <a:spcAft>
                <a:spcPts val="1400"/>
              </a:spcAft>
              <a:defRPr sz="2000"/>
            </a:pPr>
            <a:r>
              <a:t>A Random Forest model was used to estimate selling prices and identify influential predictors.</a:t>
            </a:r>
          </a:p>
          <a:p>
            <a:pPr>
              <a:spcAft>
                <a:spcPts val="1400"/>
              </a:spcAft>
              <a:defRPr sz="2000"/>
            </a:pPr>
            <a:r>
              <a:t>Next step: validate the model on newer and larger datasets before production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