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TT Interphases" charset="1" panose="02000503020000020004"/>
      <p:regular r:id="rId16"/>
    </p:embeddedFont>
    <p:embeddedFont>
      <p:font typeface="TT Interphases Bold" charset="1" panose="020008030600000200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2.pn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44000" y="491338"/>
            <a:ext cx="7776972" cy="8218729"/>
          </a:xfrm>
          <a:custGeom>
            <a:avLst/>
            <a:gdLst/>
            <a:ahLst/>
            <a:cxnLst/>
            <a:rect r="r" b="b" t="t" l="l"/>
            <a:pathLst>
              <a:path h="8218729" w="7776972">
                <a:moveTo>
                  <a:pt x="0" y="0"/>
                </a:moveTo>
                <a:lnTo>
                  <a:pt x="7776972" y="0"/>
                </a:lnTo>
                <a:lnTo>
                  <a:pt x="7776972" y="8218728"/>
                </a:lnTo>
                <a:lnTo>
                  <a:pt x="0" y="8218728"/>
                </a:lnTo>
                <a:lnTo>
                  <a:pt x="0" y="0"/>
                </a:lnTo>
                <a:close/>
              </a:path>
            </a:pathLst>
          </a:custGeom>
          <a:blipFill>
            <a:blip r:embed="rId2"/>
            <a:stretch>
              <a:fillRect l="0" t="0" r="0" b="0"/>
            </a:stretch>
          </a:blipFill>
        </p:spPr>
      </p:sp>
      <p:sp>
        <p:nvSpPr>
          <p:cNvPr name="Freeform 3" id="3"/>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472645" y="4178426"/>
            <a:ext cx="6790112" cy="2894944"/>
          </a:xfrm>
          <a:prstGeom prst="rect">
            <a:avLst/>
          </a:prstGeom>
        </p:spPr>
        <p:txBody>
          <a:bodyPr anchor="t" rtlCol="false" tIns="0" lIns="0" bIns="0" rIns="0">
            <a:spAutoFit/>
          </a:bodyPr>
          <a:lstStyle/>
          <a:p>
            <a:pPr algn="l" marL="0" indent="0" lvl="0">
              <a:lnSpc>
                <a:spcPts val="5555"/>
              </a:lnSpc>
            </a:pPr>
            <a:r>
              <a:rPr lang="en-US" sz="6385" spc="-312">
                <a:solidFill>
                  <a:srgbClr val="000000"/>
                </a:solidFill>
                <a:latin typeface="TT Interphases"/>
                <a:ea typeface="TT Interphases"/>
                <a:cs typeface="TT Interphases"/>
                <a:sym typeface="TT Interphases"/>
              </a:rPr>
              <a:t>Airbnb Data Analysis</a:t>
            </a:r>
          </a:p>
          <a:p>
            <a:pPr algn="l" marL="0" indent="0" lvl="0">
              <a:lnSpc>
                <a:spcPts val="5555"/>
              </a:lnSpc>
            </a:pPr>
            <a:r>
              <a:rPr lang="en-US" sz="6385" spc="-312">
                <a:solidFill>
                  <a:srgbClr val="000000"/>
                </a:solidFill>
                <a:latin typeface="TT Interphases"/>
                <a:ea typeface="TT Interphases"/>
                <a:cs typeface="TT Interphases"/>
                <a:sym typeface="TT Interphases"/>
              </a:rPr>
              <a:t>Pricing, Availability,</a:t>
            </a:r>
          </a:p>
          <a:p>
            <a:pPr algn="l" marL="0" indent="0" lvl="0">
              <a:lnSpc>
                <a:spcPts val="5555"/>
              </a:lnSpc>
            </a:pPr>
            <a:r>
              <a:rPr lang="en-US" sz="6385" spc="-312">
                <a:solidFill>
                  <a:srgbClr val="000000"/>
                </a:solidFill>
                <a:latin typeface="TT Interphases"/>
                <a:ea typeface="TT Interphases"/>
                <a:cs typeface="TT Interphases"/>
                <a:sym typeface="TT Interphases"/>
              </a:rPr>
              <a:t>Location &amp; Customer</a:t>
            </a:r>
          </a:p>
          <a:p>
            <a:pPr algn="l" marL="0" indent="0" lvl="0">
              <a:lnSpc>
                <a:spcPts val="5555"/>
              </a:lnSpc>
            </a:pPr>
            <a:r>
              <a:rPr lang="en-US" sz="6385" spc="-312">
                <a:solidFill>
                  <a:srgbClr val="000000"/>
                </a:solidFill>
                <a:latin typeface="TT Interphases"/>
                <a:ea typeface="TT Interphases"/>
                <a:cs typeface="TT Interphases"/>
                <a:sym typeface="TT Interphases"/>
              </a:rPr>
              <a:t>Preferences</a:t>
            </a:r>
          </a:p>
        </p:txBody>
      </p:sp>
      <p:sp>
        <p:nvSpPr>
          <p:cNvPr name="Freeform 5" id="5"/>
          <p:cNvSpPr/>
          <p:nvPr/>
        </p:nvSpPr>
        <p:spPr>
          <a:xfrm flipH="false" flipV="false" rot="0">
            <a:off x="4893561" y="1757154"/>
            <a:ext cx="1654466" cy="1650246"/>
          </a:xfrm>
          <a:custGeom>
            <a:avLst/>
            <a:gdLst/>
            <a:ahLst/>
            <a:cxnLst/>
            <a:rect r="r" b="b" t="t" l="l"/>
            <a:pathLst>
              <a:path h="1650246" w="1654466">
                <a:moveTo>
                  <a:pt x="0" y="0"/>
                </a:moveTo>
                <a:lnTo>
                  <a:pt x="1654466" y="0"/>
                </a:lnTo>
                <a:lnTo>
                  <a:pt x="1654466" y="1650245"/>
                </a:lnTo>
                <a:lnTo>
                  <a:pt x="0" y="1650245"/>
                </a:lnTo>
                <a:lnTo>
                  <a:pt x="0" y="0"/>
                </a:lnTo>
                <a:close/>
              </a:path>
            </a:pathLst>
          </a:custGeom>
          <a:blipFill>
            <a:blip r:embed="rId5"/>
            <a:stretch>
              <a:fillRect l="0" t="0" r="0" b="0"/>
            </a:stretch>
          </a:blipFill>
        </p:spPr>
      </p:sp>
      <p:sp>
        <p:nvSpPr>
          <p:cNvPr name="TextBox 6" id="6"/>
          <p:cNvSpPr txBox="true"/>
          <p:nvPr/>
        </p:nvSpPr>
        <p:spPr>
          <a:xfrm rot="0">
            <a:off x="1566219" y="1108262"/>
            <a:ext cx="2033411" cy="259399"/>
          </a:xfrm>
          <a:prstGeom prst="rect">
            <a:avLst/>
          </a:prstGeom>
        </p:spPr>
        <p:txBody>
          <a:bodyPr anchor="t" rtlCol="false" tIns="0" lIns="0" bIns="0" rIns="0">
            <a:spAutoFit/>
          </a:bodyPr>
          <a:lstStyle/>
          <a:p>
            <a:pPr algn="l" marL="0" indent="0" lvl="0">
              <a:lnSpc>
                <a:spcPts val="1825"/>
              </a:lnSpc>
            </a:pPr>
            <a:r>
              <a:rPr lang="en-US" sz="2098" spc="-102">
                <a:solidFill>
                  <a:srgbClr val="000000"/>
                </a:solidFill>
                <a:latin typeface="TT Interphases"/>
                <a:ea typeface="TT Interphases"/>
                <a:cs typeface="TT Interphases"/>
                <a:sym typeface="TT Interphases"/>
              </a:rPr>
              <a:t>Borcelle</a:t>
            </a:r>
          </a:p>
        </p:txBody>
      </p:sp>
      <p:sp>
        <p:nvSpPr>
          <p:cNvPr name="TextBox 7" id="7"/>
          <p:cNvSpPr txBox="true"/>
          <p:nvPr/>
        </p:nvSpPr>
        <p:spPr>
          <a:xfrm rot="0">
            <a:off x="1028700" y="8873489"/>
            <a:ext cx="5592538" cy="306706"/>
          </a:xfrm>
          <a:prstGeom prst="rect">
            <a:avLst/>
          </a:prstGeom>
        </p:spPr>
        <p:txBody>
          <a:bodyPr anchor="t" rtlCol="false" tIns="0" lIns="0" bIns="0" rIns="0">
            <a:spAutoFit/>
          </a:bodyPr>
          <a:lstStyle/>
          <a:p>
            <a:pPr algn="l" marL="0" indent="0" lvl="0">
              <a:lnSpc>
                <a:spcPts val="2353"/>
              </a:lnSpc>
            </a:pPr>
            <a:r>
              <a:rPr lang="en-US" sz="2704" spc="-132">
                <a:solidFill>
                  <a:srgbClr val="000000"/>
                </a:solidFill>
                <a:latin typeface="TT Interphases"/>
                <a:ea typeface="TT Interphases"/>
                <a:cs typeface="TT Interphases"/>
                <a:sym typeface="TT Interphases"/>
              </a:rPr>
              <a:t>Aryan Vishwakarma</a:t>
            </a:r>
          </a:p>
        </p:txBody>
      </p:sp>
      <p:sp>
        <p:nvSpPr>
          <p:cNvPr name="TextBox 8" id="8"/>
          <p:cNvSpPr txBox="true"/>
          <p:nvPr/>
        </p:nvSpPr>
        <p:spPr>
          <a:xfrm rot="0">
            <a:off x="15642929" y="9053703"/>
            <a:ext cx="1616371" cy="126492"/>
          </a:xfrm>
          <a:prstGeom prst="rect">
            <a:avLst/>
          </a:prstGeom>
        </p:spPr>
        <p:txBody>
          <a:bodyPr anchor="t" rtlCol="false" tIns="0" lIns="0" bIns="0" rIns="0">
            <a:spAutoFit/>
          </a:bodyPr>
          <a:lstStyle/>
          <a:p>
            <a:pPr algn="r" marL="0" indent="0" lvl="0">
              <a:lnSpc>
                <a:spcPts val="1044"/>
              </a:lnSpc>
            </a:pPr>
            <a:r>
              <a:rPr lang="en-US" sz="1200" spc="-58">
                <a:solidFill>
                  <a:srgbClr val="000000"/>
                </a:solidFill>
                <a:latin typeface="TT Interphases"/>
                <a:ea typeface="TT Interphases"/>
                <a:cs typeface="TT Interphases"/>
                <a:sym typeface="TT Interphases"/>
              </a:rPr>
              <a:t>27 June, 2024</a:t>
            </a:r>
          </a:p>
        </p:txBody>
      </p:sp>
      <p:sp>
        <p:nvSpPr>
          <p:cNvPr name="Freeform 9" id="9"/>
          <p:cNvSpPr/>
          <p:nvPr/>
        </p:nvSpPr>
        <p:spPr>
          <a:xfrm flipH="false" flipV="false" rot="0">
            <a:off x="9296400" y="643738"/>
            <a:ext cx="7776972" cy="8218729"/>
          </a:xfrm>
          <a:custGeom>
            <a:avLst/>
            <a:gdLst/>
            <a:ahLst/>
            <a:cxnLst/>
            <a:rect r="r" b="b" t="t" l="l"/>
            <a:pathLst>
              <a:path h="8218729" w="7776972">
                <a:moveTo>
                  <a:pt x="0" y="0"/>
                </a:moveTo>
                <a:lnTo>
                  <a:pt x="7776972" y="0"/>
                </a:lnTo>
                <a:lnTo>
                  <a:pt x="7776972" y="8218728"/>
                </a:lnTo>
                <a:lnTo>
                  <a:pt x="0" y="8218728"/>
                </a:lnTo>
                <a:lnTo>
                  <a:pt x="0" y="0"/>
                </a:lnTo>
                <a:close/>
              </a:path>
            </a:pathLst>
          </a:custGeom>
          <a:blipFill>
            <a:blip r:embed="rId2"/>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85140" y="2516430"/>
            <a:ext cx="7495910" cy="6699469"/>
          </a:xfrm>
          <a:custGeom>
            <a:avLst/>
            <a:gdLst/>
            <a:ahLst/>
            <a:cxnLst/>
            <a:rect r="r" b="b" t="t" l="l"/>
            <a:pathLst>
              <a:path h="6699469" w="7495910">
                <a:moveTo>
                  <a:pt x="0" y="0"/>
                </a:moveTo>
                <a:lnTo>
                  <a:pt x="7495909" y="0"/>
                </a:lnTo>
                <a:lnTo>
                  <a:pt x="7495909" y="6699469"/>
                </a:lnTo>
                <a:lnTo>
                  <a:pt x="0" y="6699469"/>
                </a:lnTo>
                <a:lnTo>
                  <a:pt x="0" y="0"/>
                </a:lnTo>
                <a:close/>
              </a:path>
            </a:pathLst>
          </a:custGeom>
          <a:blipFill>
            <a:blip r:embed="rId4"/>
            <a:stretch>
              <a:fillRect l="0" t="0" r="0" b="0"/>
            </a:stretch>
          </a:blipFill>
        </p:spPr>
      </p:sp>
      <p:sp>
        <p:nvSpPr>
          <p:cNvPr name="Freeform 4" id="4"/>
          <p:cNvSpPr/>
          <p:nvPr/>
        </p:nvSpPr>
        <p:spPr>
          <a:xfrm flipH="true" flipV="false" rot="0">
            <a:off x="16035449" y="1028700"/>
            <a:ext cx="1223851" cy="847795"/>
          </a:xfrm>
          <a:custGeom>
            <a:avLst/>
            <a:gdLst/>
            <a:ahLst/>
            <a:cxnLst/>
            <a:rect r="r" b="b" t="t" l="l"/>
            <a:pathLst>
              <a:path h="847795" w="1223851">
                <a:moveTo>
                  <a:pt x="1223851" y="0"/>
                </a:moveTo>
                <a:lnTo>
                  <a:pt x="0" y="0"/>
                </a:lnTo>
                <a:lnTo>
                  <a:pt x="0" y="847795"/>
                </a:lnTo>
                <a:lnTo>
                  <a:pt x="1223851" y="847795"/>
                </a:lnTo>
                <a:lnTo>
                  <a:pt x="122385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0252294" y="2750290"/>
            <a:ext cx="6234058" cy="2026160"/>
          </a:xfrm>
          <a:prstGeom prst="rect">
            <a:avLst/>
          </a:prstGeom>
        </p:spPr>
        <p:txBody>
          <a:bodyPr anchor="t" rtlCol="false" tIns="0" lIns="0" bIns="0" rIns="0">
            <a:spAutoFit/>
          </a:bodyPr>
          <a:lstStyle/>
          <a:p>
            <a:pPr algn="l" marL="0" indent="0" lvl="0">
              <a:lnSpc>
                <a:spcPts val="7656"/>
              </a:lnSpc>
            </a:pPr>
            <a:r>
              <a:rPr lang="en-US" sz="8800" spc="-431">
                <a:solidFill>
                  <a:srgbClr val="000000"/>
                </a:solidFill>
                <a:latin typeface="TT Interphases"/>
                <a:ea typeface="TT Interphases"/>
                <a:cs typeface="TT Interphases"/>
                <a:sym typeface="TT Interphases"/>
              </a:rPr>
              <a:t>Project</a:t>
            </a:r>
          </a:p>
          <a:p>
            <a:pPr algn="l" marL="0" indent="0" lvl="0">
              <a:lnSpc>
                <a:spcPts val="7656"/>
              </a:lnSpc>
            </a:pPr>
            <a:r>
              <a:rPr lang="en-US" sz="8800" spc="-431">
                <a:solidFill>
                  <a:srgbClr val="000000"/>
                </a:solidFill>
                <a:latin typeface="TT Interphases"/>
                <a:ea typeface="TT Interphases"/>
                <a:cs typeface="TT Interphases"/>
                <a:sym typeface="TT Interphases"/>
              </a:rPr>
              <a:t>Objective</a:t>
            </a:r>
          </a:p>
        </p:txBody>
      </p:sp>
      <p:sp>
        <p:nvSpPr>
          <p:cNvPr name="TextBox 6" id="6"/>
          <p:cNvSpPr txBox="true"/>
          <p:nvPr/>
        </p:nvSpPr>
        <p:spPr>
          <a:xfrm rot="0">
            <a:off x="1566219" y="1108262"/>
            <a:ext cx="2033411" cy="259461"/>
          </a:xfrm>
          <a:prstGeom prst="rect">
            <a:avLst/>
          </a:prstGeom>
        </p:spPr>
        <p:txBody>
          <a:bodyPr anchor="t" rtlCol="false" tIns="0" lIns="0" bIns="0" rIns="0">
            <a:spAutoFit/>
          </a:bodyPr>
          <a:lstStyle/>
          <a:p>
            <a:pPr algn="l" marL="0" indent="0" lvl="0">
              <a:lnSpc>
                <a:spcPts val="1827"/>
              </a:lnSpc>
            </a:pPr>
            <a:r>
              <a:rPr lang="en-US" sz="2100" spc="-102">
                <a:solidFill>
                  <a:srgbClr val="000000"/>
                </a:solidFill>
                <a:latin typeface="TT Interphases"/>
                <a:ea typeface="TT Interphases"/>
                <a:cs typeface="TT Interphases"/>
                <a:sym typeface="TT Interphases"/>
              </a:rPr>
              <a:t>Borcelle</a:t>
            </a:r>
          </a:p>
        </p:txBody>
      </p:sp>
      <p:sp>
        <p:nvSpPr>
          <p:cNvPr name="TextBox 7" id="7"/>
          <p:cNvSpPr txBox="true"/>
          <p:nvPr/>
        </p:nvSpPr>
        <p:spPr>
          <a:xfrm rot="0">
            <a:off x="10252294" y="5729605"/>
            <a:ext cx="7007006" cy="3233420"/>
          </a:xfrm>
          <a:prstGeom prst="rect">
            <a:avLst/>
          </a:prstGeom>
        </p:spPr>
        <p:txBody>
          <a:bodyPr anchor="t" rtlCol="false" tIns="0" lIns="0" bIns="0" rIns="0">
            <a:spAutoFit/>
          </a:bodyPr>
          <a:lstStyle/>
          <a:p>
            <a:pPr algn="l" marL="0" indent="0" lvl="0">
              <a:lnSpc>
                <a:spcPts val="2380"/>
              </a:lnSpc>
            </a:pPr>
            <a:r>
              <a:rPr lang="en-US" sz="1700" spc="-83">
                <a:solidFill>
                  <a:srgbClr val="000000"/>
                </a:solidFill>
                <a:latin typeface="TT Interphases"/>
                <a:ea typeface="TT Interphases"/>
                <a:cs typeface="TT Interphases"/>
                <a:sym typeface="TT Interphases"/>
              </a:rPr>
              <a:t>The primary goal of this project is to analyze Airbnb listing data to identify meaningful patterns and trends across key dimensions.</a:t>
            </a:r>
          </a:p>
          <a:p>
            <a:pPr algn="l" marL="0" indent="0" lvl="0">
              <a:lnSpc>
                <a:spcPts val="2380"/>
              </a:lnSpc>
            </a:pPr>
            <a:r>
              <a:rPr lang="en-US" sz="1700" spc="-83">
                <a:solidFill>
                  <a:srgbClr val="000000"/>
                </a:solidFill>
                <a:latin typeface="TT Interphases"/>
                <a:ea typeface="TT Interphases"/>
                <a:cs typeface="TT Interphases"/>
                <a:sym typeface="TT Interphases"/>
              </a:rPr>
              <a:t>This analysis aims to:</a:t>
            </a:r>
          </a:p>
          <a:p>
            <a:pPr algn="l" marL="0" indent="0" lvl="0">
              <a:lnSpc>
                <a:spcPts val="2380"/>
              </a:lnSpc>
            </a:pPr>
            <a:r>
              <a:rPr lang="en-US" sz="1700" spc="-83">
                <a:solidFill>
                  <a:srgbClr val="000000"/>
                </a:solidFill>
                <a:latin typeface="TT Interphases"/>
                <a:ea typeface="TT Interphases"/>
                <a:cs typeface="TT Interphases"/>
                <a:sym typeface="TT Interphases"/>
              </a:rPr>
              <a:t>• Examine pricing patterns across different neighbourhoods and room types</a:t>
            </a:r>
          </a:p>
          <a:p>
            <a:pPr algn="l" marL="0" indent="0" lvl="0">
              <a:lnSpc>
                <a:spcPts val="2380"/>
              </a:lnSpc>
            </a:pPr>
            <a:r>
              <a:rPr lang="en-US" sz="1700" spc="-83">
                <a:solidFill>
                  <a:srgbClr val="000000"/>
                </a:solidFill>
                <a:latin typeface="TT Interphases"/>
                <a:ea typeface="TT Interphases"/>
                <a:cs typeface="TT Interphases"/>
                <a:sym typeface="TT Interphases"/>
              </a:rPr>
              <a:t>• Identify distribution of room types and listing locations</a:t>
            </a:r>
          </a:p>
          <a:p>
            <a:pPr algn="l" marL="0" indent="0" lvl="0">
              <a:lnSpc>
                <a:spcPts val="2380"/>
              </a:lnSpc>
            </a:pPr>
            <a:r>
              <a:rPr lang="en-US" sz="1700" spc="-83">
                <a:solidFill>
                  <a:srgbClr val="000000"/>
                </a:solidFill>
                <a:latin typeface="TT Interphases"/>
                <a:ea typeface="TT Interphases"/>
                <a:cs typeface="TT Interphases"/>
                <a:sym typeface="TT Interphases"/>
              </a:rPr>
              <a:t>• Analyze customer reviews and engagement metrics</a:t>
            </a:r>
          </a:p>
          <a:p>
            <a:pPr algn="l" marL="0" indent="0" lvl="0">
              <a:lnSpc>
                <a:spcPts val="2380"/>
              </a:lnSpc>
            </a:pPr>
            <a:r>
              <a:rPr lang="en-US" sz="1700" spc="-83">
                <a:solidFill>
                  <a:srgbClr val="000000"/>
                </a:solidFill>
                <a:latin typeface="TT Interphases"/>
                <a:ea typeface="TT Interphases"/>
                <a:cs typeface="TT Interphases"/>
                <a:sym typeface="TT Interphases"/>
              </a:rPr>
              <a:t>• Understand host characteristics and verification impact</a:t>
            </a:r>
          </a:p>
          <a:p>
            <a:pPr algn="l" marL="0" indent="0" lvl="0">
              <a:lnSpc>
                <a:spcPts val="2380"/>
              </a:lnSpc>
            </a:pPr>
            <a:r>
              <a:rPr lang="en-US" sz="1700" spc="-83">
                <a:solidFill>
                  <a:srgbClr val="000000"/>
                </a:solidFill>
                <a:latin typeface="TT Interphases"/>
                <a:ea typeface="TT Interphases"/>
                <a:cs typeface="TT Interphases"/>
                <a:sym typeface="TT Interphases"/>
              </a:rPr>
              <a:t>• Explore availability trends and cancellation policies</a:t>
            </a:r>
          </a:p>
          <a:p>
            <a:pPr algn="l" marL="0" indent="0" lvl="0">
              <a:lnSpc>
                <a:spcPts val="2380"/>
              </a:lnSpc>
            </a:pPr>
            <a:r>
              <a:rPr lang="en-US" sz="1700" spc="-83">
                <a:solidFill>
                  <a:srgbClr val="000000"/>
                </a:solidFill>
                <a:latin typeface="TT Interphases"/>
                <a:ea typeface="TT Interphases"/>
                <a:cs typeface="TT Interphases"/>
                <a:sym typeface="TT Interphases"/>
              </a:rPr>
              <a:t>By investigating these factors, the project seeks to provide data-driven insights into how location, property type, and host behavior influence Airbnb market dynamics in New York City.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456932" y="3221189"/>
            <a:ext cx="6479775" cy="6034290"/>
          </a:xfrm>
          <a:custGeom>
            <a:avLst/>
            <a:gdLst/>
            <a:ahLst/>
            <a:cxnLst/>
            <a:rect r="r" b="b" t="t" l="l"/>
            <a:pathLst>
              <a:path h="6034290" w="6479775">
                <a:moveTo>
                  <a:pt x="0" y="0"/>
                </a:moveTo>
                <a:lnTo>
                  <a:pt x="6479775" y="0"/>
                </a:lnTo>
                <a:lnTo>
                  <a:pt x="6479775" y="6034290"/>
                </a:lnTo>
                <a:lnTo>
                  <a:pt x="0" y="6034290"/>
                </a:lnTo>
                <a:lnTo>
                  <a:pt x="0" y="0"/>
                </a:lnTo>
                <a:close/>
              </a:path>
            </a:pathLst>
          </a:custGeom>
          <a:blipFill>
            <a:blip r:embed="rId4"/>
            <a:stretch>
              <a:fillRect l="0" t="0" r="0" b="0"/>
            </a:stretch>
          </a:blipFill>
        </p:spPr>
      </p:sp>
      <p:sp>
        <p:nvSpPr>
          <p:cNvPr name="Freeform 4" id="4"/>
          <p:cNvSpPr/>
          <p:nvPr/>
        </p:nvSpPr>
        <p:spPr>
          <a:xfrm flipH="false" flipV="false" rot="-5400000">
            <a:off x="12130731" y="-184836"/>
            <a:ext cx="969594" cy="3396666"/>
          </a:xfrm>
          <a:custGeom>
            <a:avLst/>
            <a:gdLst/>
            <a:ahLst/>
            <a:cxnLst/>
            <a:rect r="r" b="b" t="t" l="l"/>
            <a:pathLst>
              <a:path h="3396666" w="969594">
                <a:moveTo>
                  <a:pt x="0" y="0"/>
                </a:moveTo>
                <a:lnTo>
                  <a:pt x="969594" y="0"/>
                </a:lnTo>
                <a:lnTo>
                  <a:pt x="969594" y="3396666"/>
                </a:lnTo>
                <a:lnTo>
                  <a:pt x="0" y="33966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028700" y="2734845"/>
            <a:ext cx="9601274" cy="1054610"/>
          </a:xfrm>
          <a:prstGeom prst="rect">
            <a:avLst/>
          </a:prstGeom>
        </p:spPr>
        <p:txBody>
          <a:bodyPr anchor="t" rtlCol="false" tIns="0" lIns="0" bIns="0" rIns="0">
            <a:spAutoFit/>
          </a:bodyPr>
          <a:lstStyle/>
          <a:p>
            <a:pPr algn="l" marL="0" indent="0" lvl="0">
              <a:lnSpc>
                <a:spcPts val="7656"/>
              </a:lnSpc>
            </a:pPr>
            <a:r>
              <a:rPr lang="en-US" sz="8800" spc="-431">
                <a:solidFill>
                  <a:srgbClr val="000000"/>
                </a:solidFill>
                <a:latin typeface="TT Interphases"/>
                <a:ea typeface="TT Interphases"/>
                <a:cs typeface="TT Interphases"/>
                <a:sym typeface="TT Interphases"/>
              </a:rPr>
              <a:t>Dataset Overview</a:t>
            </a:r>
          </a:p>
        </p:txBody>
      </p:sp>
      <p:sp>
        <p:nvSpPr>
          <p:cNvPr name="TextBox 6" id="6"/>
          <p:cNvSpPr txBox="true"/>
          <p:nvPr/>
        </p:nvSpPr>
        <p:spPr>
          <a:xfrm rot="0">
            <a:off x="1566219" y="1108262"/>
            <a:ext cx="2033411" cy="487999"/>
          </a:xfrm>
          <a:prstGeom prst="rect">
            <a:avLst/>
          </a:prstGeom>
        </p:spPr>
        <p:txBody>
          <a:bodyPr anchor="t" rtlCol="false" tIns="0" lIns="0" bIns="0" rIns="0">
            <a:spAutoFit/>
          </a:bodyPr>
          <a:lstStyle/>
          <a:p>
            <a:pPr algn="l" marL="0" indent="0" lvl="0">
              <a:lnSpc>
                <a:spcPts val="1825"/>
              </a:lnSpc>
            </a:pPr>
            <a:r>
              <a:rPr lang="en-US" sz="2098" spc="-102">
                <a:solidFill>
                  <a:srgbClr val="000000"/>
                </a:solidFill>
                <a:latin typeface="TT Interphases"/>
                <a:ea typeface="TT Interphases"/>
                <a:cs typeface="TT Interphases"/>
                <a:sym typeface="TT Interphases"/>
              </a:rPr>
              <a:t>Airbnb Data Analysis</a:t>
            </a:r>
          </a:p>
        </p:txBody>
      </p:sp>
      <p:sp>
        <p:nvSpPr>
          <p:cNvPr name="TextBox 7" id="7"/>
          <p:cNvSpPr txBox="true"/>
          <p:nvPr/>
        </p:nvSpPr>
        <p:spPr>
          <a:xfrm rot="0">
            <a:off x="1028700" y="6024880"/>
            <a:ext cx="4180398" cy="2642870"/>
          </a:xfrm>
          <a:prstGeom prst="rect">
            <a:avLst/>
          </a:prstGeom>
        </p:spPr>
        <p:txBody>
          <a:bodyPr anchor="t" rtlCol="false" tIns="0" lIns="0" bIns="0" rIns="0">
            <a:spAutoFit/>
          </a:bodyPr>
          <a:lstStyle/>
          <a:p>
            <a:pPr algn="l" marL="0" indent="0" lvl="0">
              <a:lnSpc>
                <a:spcPts val="2380"/>
              </a:lnSpc>
            </a:pPr>
            <a:r>
              <a:rPr lang="en-US" sz="1700" spc="-83">
                <a:solidFill>
                  <a:srgbClr val="000000"/>
                </a:solidFill>
                <a:latin typeface="TT Interphases"/>
                <a:ea typeface="TT Interphases"/>
                <a:cs typeface="TT Interphases"/>
                <a:sym typeface="TT Interphases"/>
              </a:rPr>
              <a:t>The dataset contains 102,599 Airbnb listings with 26 features per record. It provides a comprehensive view of the short-term rental market, covering a wide range of listing attributes.</a:t>
            </a:r>
          </a:p>
          <a:p>
            <a:pPr algn="l" marL="0" indent="0" lvl="0">
              <a:lnSpc>
                <a:spcPts val="2380"/>
              </a:lnSpc>
            </a:pPr>
            <a:r>
              <a:rPr lang="en-US" sz="1700" spc="-83">
                <a:solidFill>
                  <a:srgbClr val="000000"/>
                </a:solidFill>
                <a:latin typeface="TT Interphases"/>
                <a:ea typeface="TT Interphases"/>
                <a:cs typeface="TT Interphases"/>
                <a:sym typeface="TT Interphases"/>
              </a:rPr>
              <a:t>Key variables include pricing, service fees, room type, neighbourhood group, and host verification status. Additional fields capture customer engagement and operational details.</a:t>
            </a:r>
          </a:p>
        </p:txBody>
      </p:sp>
      <p:sp>
        <p:nvSpPr>
          <p:cNvPr name="TextBox 8" id="8"/>
          <p:cNvSpPr txBox="true"/>
          <p:nvPr/>
        </p:nvSpPr>
        <p:spPr>
          <a:xfrm rot="0">
            <a:off x="6199278" y="6024880"/>
            <a:ext cx="2852046" cy="2642870"/>
          </a:xfrm>
          <a:prstGeom prst="rect">
            <a:avLst/>
          </a:prstGeom>
        </p:spPr>
        <p:txBody>
          <a:bodyPr anchor="t" rtlCol="false" tIns="0" lIns="0" bIns="0" rIns="0">
            <a:spAutoFit/>
          </a:bodyPr>
          <a:lstStyle/>
          <a:p>
            <a:pPr algn="l" marL="0" indent="0" lvl="0">
              <a:lnSpc>
                <a:spcPts val="2380"/>
              </a:lnSpc>
            </a:pPr>
            <a:r>
              <a:rPr lang="en-US" b="true" sz="1700" spc="-83">
                <a:solidFill>
                  <a:srgbClr val="000000"/>
                </a:solidFill>
                <a:latin typeface="TT Interphases Bold"/>
                <a:ea typeface="TT Interphases Bold"/>
                <a:cs typeface="TT Interphases Bold"/>
                <a:sym typeface="TT Interphases Bold"/>
              </a:rPr>
              <a:t>Key Variables:</a:t>
            </a:r>
          </a:p>
          <a:p>
            <a:pPr algn="l" marL="0" indent="0" lvl="0">
              <a:lnSpc>
                <a:spcPts val="2380"/>
              </a:lnSpc>
            </a:pPr>
            <a:r>
              <a:rPr lang="en-US" b="true" sz="1700" spc="-83">
                <a:solidFill>
                  <a:srgbClr val="000000"/>
                </a:solidFill>
                <a:latin typeface="TT Interphases Bold"/>
                <a:ea typeface="TT Interphases Bold"/>
                <a:cs typeface="TT Interphases Bold"/>
                <a:sym typeface="TT Interphases Bold"/>
              </a:rPr>
              <a:t>• Price &amp; Service Fee</a:t>
            </a:r>
          </a:p>
          <a:p>
            <a:pPr algn="l" marL="0" indent="0" lvl="0">
              <a:lnSpc>
                <a:spcPts val="2380"/>
              </a:lnSpc>
            </a:pPr>
            <a:r>
              <a:rPr lang="en-US" b="true" sz="1700" spc="-83">
                <a:solidFill>
                  <a:srgbClr val="000000"/>
                </a:solidFill>
                <a:latin typeface="TT Interphases Bold"/>
                <a:ea typeface="TT Interphases Bold"/>
                <a:cs typeface="TT Interphases Bold"/>
                <a:sym typeface="TT Interphases Bold"/>
              </a:rPr>
              <a:t>• Room Type</a:t>
            </a:r>
          </a:p>
          <a:p>
            <a:pPr algn="l" marL="0" indent="0" lvl="0">
              <a:lnSpc>
                <a:spcPts val="2380"/>
              </a:lnSpc>
            </a:pPr>
            <a:r>
              <a:rPr lang="en-US" b="true" sz="1700" spc="-83">
                <a:solidFill>
                  <a:srgbClr val="000000"/>
                </a:solidFill>
                <a:latin typeface="TT Interphases Bold"/>
                <a:ea typeface="TT Interphases Bold"/>
                <a:cs typeface="TT Interphases Bold"/>
                <a:sym typeface="TT Interphases Bold"/>
              </a:rPr>
              <a:t>• Neighbourhood &amp; Location</a:t>
            </a:r>
          </a:p>
          <a:p>
            <a:pPr algn="l" marL="0" indent="0" lvl="0">
              <a:lnSpc>
                <a:spcPts val="2380"/>
              </a:lnSpc>
            </a:pPr>
            <a:r>
              <a:rPr lang="en-US" b="true" sz="1700" spc="-83">
                <a:solidFill>
                  <a:srgbClr val="000000"/>
                </a:solidFill>
                <a:latin typeface="TT Interphases Bold"/>
                <a:ea typeface="TT Interphases Bold"/>
                <a:cs typeface="TT Interphases Bold"/>
                <a:sym typeface="TT Interphases Bold"/>
              </a:rPr>
              <a:t>• Customer Reviews</a:t>
            </a:r>
          </a:p>
          <a:p>
            <a:pPr algn="l" marL="0" indent="0" lvl="0">
              <a:lnSpc>
                <a:spcPts val="2380"/>
              </a:lnSpc>
            </a:pPr>
            <a:r>
              <a:rPr lang="en-US" b="true" sz="1700" spc="-83">
                <a:solidFill>
                  <a:srgbClr val="000000"/>
                </a:solidFill>
                <a:latin typeface="TT Interphases Bold"/>
                <a:ea typeface="TT Interphases Bold"/>
                <a:cs typeface="TT Interphases Bold"/>
                <a:sym typeface="TT Interphases Bold"/>
              </a:rPr>
              <a:t>• Availability (365 days)</a:t>
            </a:r>
          </a:p>
          <a:p>
            <a:pPr algn="l" marL="0" indent="0" lvl="0">
              <a:lnSpc>
                <a:spcPts val="2380"/>
              </a:lnSpc>
            </a:pPr>
            <a:r>
              <a:rPr lang="en-US" b="true" sz="1700" spc="-83">
                <a:solidFill>
                  <a:srgbClr val="000000"/>
                </a:solidFill>
                <a:latin typeface="TT Interphases Bold"/>
                <a:ea typeface="TT Interphases Bold"/>
                <a:cs typeface="TT Interphases Bold"/>
                <a:sym typeface="TT Interphases Bold"/>
              </a:rPr>
              <a:t>• Cancellation Policy</a:t>
            </a:r>
          </a:p>
          <a:p>
            <a:pPr algn="l" marL="0" indent="0" lvl="0">
              <a:lnSpc>
                <a:spcPts val="2380"/>
              </a:lnSpc>
            </a:pPr>
            <a:r>
              <a:rPr lang="en-US" b="true" sz="1700" spc="-83">
                <a:solidFill>
                  <a:srgbClr val="000000"/>
                </a:solidFill>
                <a:latin typeface="TT Interphases Bold"/>
                <a:ea typeface="TT Interphases Bold"/>
                <a:cs typeface="TT Interphases Bold"/>
                <a:sym typeface="TT Interphases Bold"/>
              </a:rPr>
              <a:t>• Host Verification</a:t>
            </a:r>
          </a:p>
          <a:p>
            <a:pPr algn="l" marL="0" indent="0" lvl="0">
              <a:lnSpc>
                <a:spcPts val="2380"/>
              </a:lnSpc>
            </a:pPr>
            <a:r>
              <a:rPr lang="en-US" b="true" sz="1700" spc="-83">
                <a:solidFill>
                  <a:srgbClr val="000000"/>
                </a:solidFill>
                <a:latin typeface="TT Interphases Bold"/>
                <a:ea typeface="TT Interphases Bold"/>
                <a:cs typeface="TT Interphases Bold"/>
                <a:sym typeface="TT Interphases Bold"/>
              </a:rPr>
              <a:t>• Construction Year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03791" y="5225369"/>
            <a:ext cx="6749458" cy="5163335"/>
          </a:xfrm>
          <a:custGeom>
            <a:avLst/>
            <a:gdLst/>
            <a:ahLst/>
            <a:cxnLst/>
            <a:rect r="r" b="b" t="t" l="l"/>
            <a:pathLst>
              <a:path h="5163335" w="6749458">
                <a:moveTo>
                  <a:pt x="0" y="0"/>
                </a:moveTo>
                <a:lnTo>
                  <a:pt x="6749458" y="0"/>
                </a:lnTo>
                <a:lnTo>
                  <a:pt x="6749458" y="5163335"/>
                </a:lnTo>
                <a:lnTo>
                  <a:pt x="0" y="5163335"/>
                </a:lnTo>
                <a:lnTo>
                  <a:pt x="0" y="0"/>
                </a:lnTo>
                <a:close/>
              </a:path>
            </a:pathLst>
          </a:custGeom>
          <a:blipFill>
            <a:blip r:embed="rId4"/>
            <a:stretch>
              <a:fillRect l="0" t="0" r="0" b="0"/>
            </a:stretch>
          </a:blipFill>
        </p:spPr>
      </p:sp>
      <p:sp>
        <p:nvSpPr>
          <p:cNvPr name="TextBox 4" id="4"/>
          <p:cNvSpPr txBox="true"/>
          <p:nvPr/>
        </p:nvSpPr>
        <p:spPr>
          <a:xfrm rot="0">
            <a:off x="1028700" y="2644660"/>
            <a:ext cx="7577855" cy="2026160"/>
          </a:xfrm>
          <a:prstGeom prst="rect">
            <a:avLst/>
          </a:prstGeom>
        </p:spPr>
        <p:txBody>
          <a:bodyPr anchor="t" rtlCol="false" tIns="0" lIns="0" bIns="0" rIns="0">
            <a:spAutoFit/>
          </a:bodyPr>
          <a:lstStyle/>
          <a:p>
            <a:pPr algn="l" marL="0" indent="0" lvl="0">
              <a:lnSpc>
                <a:spcPts val="7656"/>
              </a:lnSpc>
            </a:pPr>
            <a:r>
              <a:rPr lang="en-US" sz="8800" spc="-431">
                <a:solidFill>
                  <a:srgbClr val="000000"/>
                </a:solidFill>
                <a:latin typeface="TT Interphases"/>
                <a:ea typeface="TT Interphases"/>
                <a:cs typeface="TT Interphases"/>
                <a:sym typeface="TT Interphases"/>
              </a:rPr>
              <a:t>Data Cleaning &amp; Preparation</a:t>
            </a:r>
          </a:p>
        </p:txBody>
      </p:sp>
      <p:sp>
        <p:nvSpPr>
          <p:cNvPr name="TextBox 5" id="5"/>
          <p:cNvSpPr txBox="true"/>
          <p:nvPr/>
        </p:nvSpPr>
        <p:spPr>
          <a:xfrm rot="0">
            <a:off x="1566219" y="1108262"/>
            <a:ext cx="2033411" cy="259461"/>
          </a:xfrm>
          <a:prstGeom prst="rect">
            <a:avLst/>
          </a:prstGeom>
        </p:spPr>
        <p:txBody>
          <a:bodyPr anchor="t" rtlCol="false" tIns="0" lIns="0" bIns="0" rIns="0">
            <a:spAutoFit/>
          </a:bodyPr>
          <a:lstStyle/>
          <a:p>
            <a:pPr algn="l" marL="0" indent="0" lvl="0">
              <a:lnSpc>
                <a:spcPts val="1827"/>
              </a:lnSpc>
            </a:pPr>
            <a:r>
              <a:rPr lang="en-US" sz="2100" spc="-102">
                <a:solidFill>
                  <a:srgbClr val="000000"/>
                </a:solidFill>
                <a:latin typeface="TT Interphases"/>
                <a:ea typeface="TT Interphases"/>
                <a:cs typeface="TT Interphases"/>
                <a:sym typeface="TT Interphases"/>
              </a:rPr>
              <a:t>Borcelle</a:t>
            </a:r>
          </a:p>
        </p:txBody>
      </p:sp>
      <p:sp>
        <p:nvSpPr>
          <p:cNvPr name="TextBox 6" id="6"/>
          <p:cNvSpPr txBox="true"/>
          <p:nvPr/>
        </p:nvSpPr>
        <p:spPr>
          <a:xfrm rot="0">
            <a:off x="11673321" y="1487959"/>
            <a:ext cx="5585979" cy="1166495"/>
          </a:xfrm>
          <a:prstGeom prst="rect">
            <a:avLst/>
          </a:prstGeom>
        </p:spPr>
        <p:txBody>
          <a:bodyPr anchor="t" rtlCol="false" tIns="0" lIns="0" bIns="0" rIns="0">
            <a:spAutoFit/>
          </a:bodyPr>
          <a:lstStyle/>
          <a:p>
            <a:pPr algn="l" marL="0" indent="0" lvl="0">
              <a:lnSpc>
                <a:spcPts val="2380"/>
              </a:lnSpc>
            </a:pPr>
            <a:r>
              <a:rPr lang="en-US" sz="1700" spc="-83">
                <a:solidFill>
                  <a:srgbClr val="000000"/>
                </a:solidFill>
                <a:latin typeface="TT Interphases"/>
                <a:ea typeface="TT Interphases"/>
                <a:cs typeface="TT Interphases"/>
                <a:sym typeface="TT Interphases"/>
              </a:rPr>
              <a:t>Checked the dataset structure, column data types, and overall shape. Identified and removed duplicate records to ensure data integrity. Verified that all 26 features were correctly loaded across 102,599 listings.</a:t>
            </a:r>
          </a:p>
        </p:txBody>
      </p:sp>
      <p:sp>
        <p:nvSpPr>
          <p:cNvPr name="TextBox 7" id="7"/>
          <p:cNvSpPr txBox="true"/>
          <p:nvPr/>
        </p:nvSpPr>
        <p:spPr>
          <a:xfrm rot="0">
            <a:off x="11673321" y="1000125"/>
            <a:ext cx="1214776" cy="280670"/>
          </a:xfrm>
          <a:prstGeom prst="rect">
            <a:avLst/>
          </a:prstGeom>
        </p:spPr>
        <p:txBody>
          <a:bodyPr anchor="t" rtlCol="false" tIns="0" lIns="0" bIns="0" rIns="0">
            <a:spAutoFit/>
          </a:bodyPr>
          <a:lstStyle/>
          <a:p>
            <a:pPr algn="l" marL="0" indent="0" lvl="0">
              <a:lnSpc>
                <a:spcPts val="2380"/>
              </a:lnSpc>
            </a:pPr>
            <a:r>
              <a:rPr lang="en-US" b="true" sz="1700" spc="-83">
                <a:solidFill>
                  <a:srgbClr val="000000"/>
                </a:solidFill>
                <a:latin typeface="TT Interphases Bold"/>
                <a:ea typeface="TT Interphases Bold"/>
                <a:cs typeface="TT Interphases Bold"/>
                <a:sym typeface="TT Interphases Bold"/>
              </a:rPr>
              <a:t>Step 01</a:t>
            </a:r>
          </a:p>
        </p:txBody>
      </p:sp>
      <p:sp>
        <p:nvSpPr>
          <p:cNvPr name="TextBox 8" id="8"/>
          <p:cNvSpPr txBox="true"/>
          <p:nvPr/>
        </p:nvSpPr>
        <p:spPr>
          <a:xfrm rot="0">
            <a:off x="11673321" y="4642245"/>
            <a:ext cx="5585979" cy="1166495"/>
          </a:xfrm>
          <a:prstGeom prst="rect">
            <a:avLst/>
          </a:prstGeom>
        </p:spPr>
        <p:txBody>
          <a:bodyPr anchor="t" rtlCol="false" tIns="0" lIns="0" bIns="0" rIns="0">
            <a:spAutoFit/>
          </a:bodyPr>
          <a:lstStyle/>
          <a:p>
            <a:pPr algn="l" marL="0" indent="0" lvl="0">
              <a:lnSpc>
                <a:spcPts val="2380"/>
              </a:lnSpc>
            </a:pPr>
            <a:r>
              <a:rPr lang="en-US" sz="1700" spc="-83">
                <a:solidFill>
                  <a:srgbClr val="000000"/>
                </a:solidFill>
                <a:latin typeface="TT Interphases"/>
                <a:ea typeface="TT Interphases"/>
                <a:cs typeface="TT Interphases"/>
                <a:sym typeface="TT Interphases"/>
              </a:rPr>
              <a:t>Handled missing values across key columns including price, service fee, neighbourhood, and reviews. Cleaned and converted the price and service fee columns by removing currency symbols and converting to numeric format for analysis.</a:t>
            </a:r>
          </a:p>
        </p:txBody>
      </p:sp>
      <p:sp>
        <p:nvSpPr>
          <p:cNvPr name="TextBox 9" id="9"/>
          <p:cNvSpPr txBox="true"/>
          <p:nvPr/>
        </p:nvSpPr>
        <p:spPr>
          <a:xfrm rot="0">
            <a:off x="11673321" y="4154410"/>
            <a:ext cx="1214776" cy="280670"/>
          </a:xfrm>
          <a:prstGeom prst="rect">
            <a:avLst/>
          </a:prstGeom>
        </p:spPr>
        <p:txBody>
          <a:bodyPr anchor="t" rtlCol="false" tIns="0" lIns="0" bIns="0" rIns="0">
            <a:spAutoFit/>
          </a:bodyPr>
          <a:lstStyle/>
          <a:p>
            <a:pPr algn="l" marL="0" indent="0" lvl="0">
              <a:lnSpc>
                <a:spcPts val="2380"/>
              </a:lnSpc>
            </a:pPr>
            <a:r>
              <a:rPr lang="en-US" b="true" sz="1700" spc="-83">
                <a:solidFill>
                  <a:srgbClr val="000000"/>
                </a:solidFill>
                <a:latin typeface="TT Interphases Bold"/>
                <a:ea typeface="TT Interphases Bold"/>
                <a:cs typeface="TT Interphases Bold"/>
                <a:sym typeface="TT Interphases Bold"/>
              </a:rPr>
              <a:t>Step 02</a:t>
            </a:r>
          </a:p>
        </p:txBody>
      </p:sp>
      <p:sp>
        <p:nvSpPr>
          <p:cNvPr name="TextBox 10" id="10"/>
          <p:cNvSpPr txBox="true"/>
          <p:nvPr/>
        </p:nvSpPr>
        <p:spPr>
          <a:xfrm rot="0">
            <a:off x="11673321" y="7796530"/>
            <a:ext cx="5585979" cy="1166495"/>
          </a:xfrm>
          <a:prstGeom prst="rect">
            <a:avLst/>
          </a:prstGeom>
        </p:spPr>
        <p:txBody>
          <a:bodyPr anchor="t" rtlCol="false" tIns="0" lIns="0" bIns="0" rIns="0">
            <a:spAutoFit/>
          </a:bodyPr>
          <a:lstStyle/>
          <a:p>
            <a:pPr algn="l" marL="0" indent="0" lvl="0">
              <a:lnSpc>
                <a:spcPts val="2380"/>
              </a:lnSpc>
            </a:pPr>
            <a:r>
              <a:rPr lang="en-US" sz="1700" spc="-83">
                <a:solidFill>
                  <a:srgbClr val="000000"/>
                </a:solidFill>
                <a:latin typeface="TT Interphases"/>
                <a:ea typeface="TT Interphases"/>
                <a:cs typeface="TT Interphases"/>
                <a:sym typeface="TT Interphases"/>
              </a:rPr>
              <a:t>Removed the license column due to extensive missing data that made it unsuitable for analysis. Final cleaned dataset was validated for completeness and consistency before proceeding to exploratory analysis.</a:t>
            </a:r>
          </a:p>
        </p:txBody>
      </p:sp>
      <p:sp>
        <p:nvSpPr>
          <p:cNvPr name="TextBox 11" id="11"/>
          <p:cNvSpPr txBox="true"/>
          <p:nvPr/>
        </p:nvSpPr>
        <p:spPr>
          <a:xfrm rot="0">
            <a:off x="11673321" y="7308696"/>
            <a:ext cx="1214776" cy="280670"/>
          </a:xfrm>
          <a:prstGeom prst="rect">
            <a:avLst/>
          </a:prstGeom>
        </p:spPr>
        <p:txBody>
          <a:bodyPr anchor="t" rtlCol="false" tIns="0" lIns="0" bIns="0" rIns="0">
            <a:spAutoFit/>
          </a:bodyPr>
          <a:lstStyle/>
          <a:p>
            <a:pPr algn="l" marL="0" indent="0" lvl="0">
              <a:lnSpc>
                <a:spcPts val="2380"/>
              </a:lnSpc>
            </a:pPr>
            <a:r>
              <a:rPr lang="en-US" b="true" sz="1700" spc="-83">
                <a:solidFill>
                  <a:srgbClr val="000000"/>
                </a:solidFill>
                <a:latin typeface="TT Interphases Bold"/>
                <a:ea typeface="TT Interphases Bold"/>
                <a:cs typeface="TT Interphases Bold"/>
                <a:sym typeface="TT Interphases Bold"/>
              </a:rPr>
              <a:t>Step 03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940114" y="1889116"/>
            <a:ext cx="7344477" cy="4048643"/>
          </a:xfrm>
          <a:custGeom>
            <a:avLst/>
            <a:gdLst/>
            <a:ahLst/>
            <a:cxnLst/>
            <a:rect r="r" b="b" t="t" l="l"/>
            <a:pathLst>
              <a:path h="4048643" w="7344477">
                <a:moveTo>
                  <a:pt x="0" y="0"/>
                </a:moveTo>
                <a:lnTo>
                  <a:pt x="7344476" y="0"/>
                </a:lnTo>
                <a:lnTo>
                  <a:pt x="7344476" y="4048643"/>
                </a:lnTo>
                <a:lnTo>
                  <a:pt x="0" y="4048643"/>
                </a:lnTo>
                <a:lnTo>
                  <a:pt x="0" y="0"/>
                </a:lnTo>
                <a:close/>
              </a:path>
            </a:pathLst>
          </a:custGeom>
          <a:blipFill>
            <a:blip r:embed="rId4"/>
            <a:stretch>
              <a:fillRect l="0" t="0" r="0" b="0"/>
            </a:stretch>
          </a:blipFill>
        </p:spPr>
      </p:sp>
      <p:sp>
        <p:nvSpPr>
          <p:cNvPr name="TextBox 4" id="4"/>
          <p:cNvSpPr txBox="true"/>
          <p:nvPr/>
        </p:nvSpPr>
        <p:spPr>
          <a:xfrm rot="0">
            <a:off x="1028700" y="7338123"/>
            <a:ext cx="6978478" cy="1861664"/>
          </a:xfrm>
          <a:prstGeom prst="rect">
            <a:avLst/>
          </a:prstGeom>
        </p:spPr>
        <p:txBody>
          <a:bodyPr anchor="t" rtlCol="false" tIns="0" lIns="0" bIns="0" rIns="0">
            <a:spAutoFit/>
          </a:bodyPr>
          <a:lstStyle/>
          <a:p>
            <a:pPr algn="l" marL="0" indent="0" lvl="0">
              <a:lnSpc>
                <a:spcPts val="7009"/>
              </a:lnSpc>
            </a:pPr>
            <a:r>
              <a:rPr lang="en-US" sz="8056" spc="-394">
                <a:solidFill>
                  <a:srgbClr val="000000"/>
                </a:solidFill>
                <a:latin typeface="TT Interphases"/>
                <a:ea typeface="TT Interphases"/>
                <a:cs typeface="TT Interphases"/>
                <a:sym typeface="TT Interphases"/>
              </a:rPr>
              <a:t>Room Type &amp; Location Analysis</a:t>
            </a:r>
          </a:p>
        </p:txBody>
      </p:sp>
      <p:sp>
        <p:nvSpPr>
          <p:cNvPr name="TextBox 5" id="5"/>
          <p:cNvSpPr txBox="true"/>
          <p:nvPr/>
        </p:nvSpPr>
        <p:spPr>
          <a:xfrm rot="0">
            <a:off x="1566219" y="1108262"/>
            <a:ext cx="2033411" cy="259399"/>
          </a:xfrm>
          <a:prstGeom prst="rect">
            <a:avLst/>
          </a:prstGeom>
        </p:spPr>
        <p:txBody>
          <a:bodyPr anchor="t" rtlCol="false" tIns="0" lIns="0" bIns="0" rIns="0">
            <a:spAutoFit/>
          </a:bodyPr>
          <a:lstStyle/>
          <a:p>
            <a:pPr algn="l" marL="0" indent="0" lvl="0">
              <a:lnSpc>
                <a:spcPts val="1825"/>
              </a:lnSpc>
            </a:pPr>
            <a:r>
              <a:rPr lang="en-US" sz="2098" spc="-102">
                <a:solidFill>
                  <a:srgbClr val="000000"/>
                </a:solidFill>
                <a:latin typeface="TT Interphases"/>
                <a:ea typeface="TT Interphases"/>
                <a:cs typeface="TT Interphases"/>
                <a:sym typeface="TT Interphases"/>
              </a:rPr>
              <a:t>Borcelle</a:t>
            </a:r>
          </a:p>
        </p:txBody>
      </p:sp>
      <p:sp>
        <p:nvSpPr>
          <p:cNvPr name="TextBox 6" id="6"/>
          <p:cNvSpPr txBox="true"/>
          <p:nvPr/>
        </p:nvSpPr>
        <p:spPr>
          <a:xfrm rot="0">
            <a:off x="1028700" y="3071873"/>
            <a:ext cx="6142033" cy="2347625"/>
          </a:xfrm>
          <a:prstGeom prst="rect">
            <a:avLst/>
          </a:prstGeom>
        </p:spPr>
        <p:txBody>
          <a:bodyPr anchor="t" rtlCol="false" tIns="0" lIns="0" bIns="0" rIns="0">
            <a:spAutoFit/>
          </a:bodyPr>
          <a:lstStyle/>
          <a:p>
            <a:pPr algn="l" marL="0" indent="0" lvl="0">
              <a:lnSpc>
                <a:spcPts val="2378"/>
              </a:lnSpc>
            </a:pPr>
            <a:r>
              <a:rPr lang="en-US" sz="1698" spc="-83">
                <a:solidFill>
                  <a:srgbClr val="000000"/>
                </a:solidFill>
                <a:latin typeface="TT Interphases"/>
                <a:ea typeface="TT Interphases"/>
                <a:cs typeface="TT Interphases"/>
                <a:sym typeface="TT Interphases"/>
              </a:rPr>
              <a:t>Key findings from the room type and neighbourhood distribution analysis of 102,599 Airbnb listings:</a:t>
            </a:r>
          </a:p>
          <a:p>
            <a:pPr algn="l" marL="0" indent="0" lvl="0">
              <a:lnSpc>
                <a:spcPts val="2378"/>
              </a:lnSpc>
            </a:pPr>
            <a:r>
              <a:rPr lang="en-US" sz="1698" spc="-83">
                <a:solidFill>
                  <a:srgbClr val="000000"/>
                </a:solidFill>
                <a:latin typeface="TT Interphases"/>
                <a:ea typeface="TT Interphases"/>
                <a:cs typeface="TT Interphases"/>
                <a:sym typeface="TT Interphases"/>
              </a:rPr>
              <a:t>• Entire home/apt is the most common room type across all listings.</a:t>
            </a:r>
          </a:p>
          <a:p>
            <a:pPr algn="l" marL="0" indent="0" lvl="0">
              <a:lnSpc>
                <a:spcPts val="2378"/>
              </a:lnSpc>
            </a:pPr>
            <a:r>
              <a:rPr lang="en-US" sz="1698" spc="-83">
                <a:solidFill>
                  <a:srgbClr val="000000"/>
                </a:solidFill>
                <a:latin typeface="TT Interphases"/>
                <a:ea typeface="TT Interphases"/>
                <a:cs typeface="TT Interphases"/>
                <a:sym typeface="TT Interphases"/>
              </a:rPr>
              <a:t>• Bedford-Stuyvesant has the highest number of listings among all neighbourhoods.</a:t>
            </a:r>
          </a:p>
          <a:p>
            <a:pPr algn="l" marL="0" indent="0" lvl="0">
              <a:lnSpc>
                <a:spcPts val="2378"/>
              </a:lnSpc>
            </a:pPr>
            <a:r>
              <a:rPr lang="en-US" sz="1698" spc="-83">
                <a:solidFill>
                  <a:srgbClr val="000000"/>
                </a:solidFill>
                <a:latin typeface="TT Interphases"/>
                <a:ea typeface="TT Interphases"/>
                <a:cs typeface="TT Interphases"/>
                <a:sym typeface="TT Interphases"/>
              </a:rPr>
              <a:t>• Private rooms are the second most common room type.</a:t>
            </a:r>
          </a:p>
          <a:p>
            <a:pPr algn="l" marL="0" indent="0" lvl="0">
              <a:lnSpc>
                <a:spcPts val="2378"/>
              </a:lnSpc>
            </a:pPr>
            <a:r>
              <a:rPr lang="en-US" sz="1698" spc="-83">
                <a:solidFill>
                  <a:srgbClr val="000000"/>
                </a:solidFill>
                <a:latin typeface="TT Interphases"/>
                <a:ea typeface="TT Interphases"/>
                <a:cs typeface="TT Interphases"/>
                <a:sym typeface="TT Interphases"/>
              </a:rPr>
              <a:t>• Shared rooms and hotel rooms represent a smaller share of total listings.</a:t>
            </a:r>
          </a:p>
        </p:txBody>
      </p:sp>
      <p:sp>
        <p:nvSpPr>
          <p:cNvPr name="TextBox 7" id="7"/>
          <p:cNvSpPr txBox="true"/>
          <p:nvPr/>
        </p:nvSpPr>
        <p:spPr>
          <a:xfrm rot="0">
            <a:off x="10452749" y="7501255"/>
            <a:ext cx="6806551" cy="871250"/>
          </a:xfrm>
          <a:prstGeom prst="rect">
            <a:avLst/>
          </a:prstGeom>
        </p:spPr>
        <p:txBody>
          <a:bodyPr anchor="t" rtlCol="false" tIns="0" lIns="0" bIns="0" rIns="0">
            <a:spAutoFit/>
          </a:bodyPr>
          <a:lstStyle/>
          <a:p>
            <a:pPr algn="l" marL="0" indent="0" lvl="0">
              <a:lnSpc>
                <a:spcPts val="2378"/>
              </a:lnSpc>
            </a:pPr>
            <a:r>
              <a:rPr lang="en-US" b="true" sz="1698" spc="-83">
                <a:solidFill>
                  <a:srgbClr val="000000"/>
                </a:solidFill>
                <a:latin typeface="TT Interphases Bold"/>
                <a:ea typeface="TT Interphases Bold"/>
                <a:cs typeface="TT Interphases Bold"/>
                <a:sym typeface="TT Interphases Bold"/>
              </a:rPr>
              <a:t>[ Chart 1: Bar/Pie chart showing distribution of listings by Room Type ]</a:t>
            </a:r>
          </a:p>
          <a:p>
            <a:pPr algn="l" marL="0" indent="0" lvl="0">
              <a:lnSpc>
                <a:spcPts val="2378"/>
              </a:lnSpc>
            </a:pPr>
            <a:r>
              <a:rPr lang="en-US" b="true" sz="1698" spc="-83">
                <a:solidFill>
                  <a:srgbClr val="000000"/>
                </a:solidFill>
                <a:latin typeface="TT Interphases Bold"/>
                <a:ea typeface="TT Interphases Bold"/>
                <a:cs typeface="TT Interphases Bold"/>
                <a:sym typeface="TT Interphases Bold"/>
              </a:rPr>
              <a:t>[ Chart 2: Bar chart showing Top Neighbourhoods by Number of Listings, highlighting Bedford-Stuyvesant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368146" y="1179663"/>
            <a:ext cx="6301748" cy="5183188"/>
          </a:xfrm>
          <a:custGeom>
            <a:avLst/>
            <a:gdLst/>
            <a:ahLst/>
            <a:cxnLst/>
            <a:rect r="r" b="b" t="t" l="l"/>
            <a:pathLst>
              <a:path h="5183188" w="6301748">
                <a:moveTo>
                  <a:pt x="0" y="0"/>
                </a:moveTo>
                <a:lnTo>
                  <a:pt x="6301748" y="0"/>
                </a:lnTo>
                <a:lnTo>
                  <a:pt x="6301748" y="5183188"/>
                </a:lnTo>
                <a:lnTo>
                  <a:pt x="0" y="5183188"/>
                </a:lnTo>
                <a:lnTo>
                  <a:pt x="0" y="0"/>
                </a:lnTo>
                <a:close/>
              </a:path>
            </a:pathLst>
          </a:custGeom>
          <a:blipFill>
            <a:blip r:embed="rId4"/>
            <a:stretch>
              <a:fillRect l="0" t="0" r="0" b="0"/>
            </a:stretch>
          </a:blipFill>
        </p:spPr>
      </p:sp>
      <p:sp>
        <p:nvSpPr>
          <p:cNvPr name="TextBox 4" id="4"/>
          <p:cNvSpPr txBox="true"/>
          <p:nvPr/>
        </p:nvSpPr>
        <p:spPr>
          <a:xfrm rot="0">
            <a:off x="1028700" y="7319073"/>
            <a:ext cx="6978478" cy="1699355"/>
          </a:xfrm>
          <a:prstGeom prst="rect">
            <a:avLst/>
          </a:prstGeom>
        </p:spPr>
        <p:txBody>
          <a:bodyPr anchor="t" rtlCol="false" tIns="0" lIns="0" bIns="0" rIns="0">
            <a:spAutoFit/>
          </a:bodyPr>
          <a:lstStyle/>
          <a:p>
            <a:pPr algn="l" marL="0" indent="0" lvl="0">
              <a:lnSpc>
                <a:spcPts val="6408"/>
              </a:lnSpc>
            </a:pPr>
            <a:r>
              <a:rPr lang="en-US" sz="7365" spc="-360">
                <a:solidFill>
                  <a:srgbClr val="000000"/>
                </a:solidFill>
                <a:latin typeface="TT Interphases"/>
                <a:ea typeface="TT Interphases"/>
                <a:cs typeface="TT Interphases"/>
                <a:sym typeface="TT Interphases"/>
              </a:rPr>
              <a:t>Pricing &amp; Availability Analysis</a:t>
            </a:r>
          </a:p>
        </p:txBody>
      </p:sp>
      <p:sp>
        <p:nvSpPr>
          <p:cNvPr name="TextBox 5" id="5"/>
          <p:cNvSpPr txBox="true"/>
          <p:nvPr/>
        </p:nvSpPr>
        <p:spPr>
          <a:xfrm rot="0">
            <a:off x="1566219" y="1108262"/>
            <a:ext cx="2033411" cy="259399"/>
          </a:xfrm>
          <a:prstGeom prst="rect">
            <a:avLst/>
          </a:prstGeom>
        </p:spPr>
        <p:txBody>
          <a:bodyPr anchor="t" rtlCol="false" tIns="0" lIns="0" bIns="0" rIns="0">
            <a:spAutoFit/>
          </a:bodyPr>
          <a:lstStyle/>
          <a:p>
            <a:pPr algn="l" marL="0" indent="0" lvl="0">
              <a:lnSpc>
                <a:spcPts val="1825"/>
              </a:lnSpc>
            </a:pPr>
            <a:r>
              <a:rPr lang="en-US" sz="2098" spc="-102">
                <a:solidFill>
                  <a:srgbClr val="000000"/>
                </a:solidFill>
                <a:latin typeface="TT Interphases"/>
                <a:ea typeface="TT Interphases"/>
                <a:cs typeface="TT Interphases"/>
                <a:sym typeface="TT Interphases"/>
              </a:rPr>
              <a:t>Borcelle</a:t>
            </a:r>
          </a:p>
        </p:txBody>
      </p:sp>
      <p:sp>
        <p:nvSpPr>
          <p:cNvPr name="TextBox 6" id="6"/>
          <p:cNvSpPr txBox="true"/>
          <p:nvPr/>
        </p:nvSpPr>
        <p:spPr>
          <a:xfrm rot="0">
            <a:off x="1028700" y="3071873"/>
            <a:ext cx="6142033" cy="2347625"/>
          </a:xfrm>
          <a:prstGeom prst="rect">
            <a:avLst/>
          </a:prstGeom>
        </p:spPr>
        <p:txBody>
          <a:bodyPr anchor="t" rtlCol="false" tIns="0" lIns="0" bIns="0" rIns="0">
            <a:spAutoFit/>
          </a:bodyPr>
          <a:lstStyle/>
          <a:p>
            <a:pPr algn="l" marL="0" indent="0" lvl="0">
              <a:lnSpc>
                <a:spcPts val="2378"/>
              </a:lnSpc>
            </a:pPr>
            <a:r>
              <a:rPr lang="en-US" sz="1698" spc="-83">
                <a:solidFill>
                  <a:srgbClr val="000000"/>
                </a:solidFill>
                <a:latin typeface="TT Interphases"/>
                <a:ea typeface="TT Interphases"/>
                <a:cs typeface="TT Interphases"/>
                <a:sym typeface="TT Interphases"/>
              </a:rPr>
              <a:t>Pricing patterns reveal clear differences across neighbourhood groups and room types. Queens records the highest average price among all neighbourhood groups, indicating strong demand and premium listing values in that area.</a:t>
            </a:r>
          </a:p>
          <a:p>
            <a:pPr algn="l" marL="0" indent="0" lvl="0">
              <a:lnSpc>
                <a:spcPts val="2378"/>
              </a:lnSpc>
            </a:pPr>
            <a:r>
              <a:rPr lang="en-US" sz="1698" spc="-83">
                <a:solidFill>
                  <a:srgbClr val="000000"/>
                </a:solidFill>
                <a:latin typeface="TT Interphases"/>
                <a:ea typeface="TT Interphases"/>
                <a:cs typeface="TT Interphases"/>
                <a:sym typeface="TT Interphases"/>
              </a:rPr>
              <a:t>Among room types, Hotel rooms command the highest average price and also show the highest average availability, suggesting they are priced at a premium but remain consistently accessible for booking throughout the year.</a:t>
            </a:r>
          </a:p>
        </p:txBody>
      </p:sp>
      <p:sp>
        <p:nvSpPr>
          <p:cNvPr name="TextBox 7" id="7"/>
          <p:cNvSpPr txBox="true"/>
          <p:nvPr/>
        </p:nvSpPr>
        <p:spPr>
          <a:xfrm rot="0">
            <a:off x="10452749" y="7501255"/>
            <a:ext cx="6806551" cy="1461800"/>
          </a:xfrm>
          <a:prstGeom prst="rect">
            <a:avLst/>
          </a:prstGeom>
        </p:spPr>
        <p:txBody>
          <a:bodyPr anchor="t" rtlCol="false" tIns="0" lIns="0" bIns="0" rIns="0">
            <a:spAutoFit/>
          </a:bodyPr>
          <a:lstStyle/>
          <a:p>
            <a:pPr algn="l" marL="0" indent="0" lvl="0">
              <a:lnSpc>
                <a:spcPts val="2378"/>
              </a:lnSpc>
            </a:pPr>
            <a:r>
              <a:rPr lang="en-US" b="true" sz="1698" spc="-83">
                <a:solidFill>
                  <a:srgbClr val="000000"/>
                </a:solidFill>
                <a:latin typeface="TT Interphases Bold"/>
                <a:ea typeface="TT Interphases Bold"/>
                <a:cs typeface="TT Interphases Bold"/>
                <a:sym typeface="TT Interphases Bold"/>
              </a:rPr>
              <a:t>Visual space reserved for charts:</a:t>
            </a:r>
          </a:p>
          <a:p>
            <a:pPr algn="l" marL="0" indent="0" lvl="0">
              <a:lnSpc>
                <a:spcPts val="2378"/>
              </a:lnSpc>
            </a:pPr>
            <a:r>
              <a:rPr lang="en-US" b="true" sz="1698" spc="-83">
                <a:solidFill>
                  <a:srgbClr val="000000"/>
                </a:solidFill>
                <a:latin typeface="TT Interphases Bold"/>
                <a:ea typeface="TT Interphases Bold"/>
                <a:cs typeface="TT Interphases Bold"/>
                <a:sym typeface="TT Interphases Bold"/>
              </a:rPr>
              <a:t>• Bar chart: Average price by neighbourhood group</a:t>
            </a:r>
          </a:p>
          <a:p>
            <a:pPr algn="l" marL="0" indent="0" lvl="0">
              <a:lnSpc>
                <a:spcPts val="2378"/>
              </a:lnSpc>
            </a:pPr>
            <a:r>
              <a:rPr lang="en-US" b="true" sz="1698" spc="-83">
                <a:solidFill>
                  <a:srgbClr val="000000"/>
                </a:solidFill>
                <a:latin typeface="TT Interphases Bold"/>
                <a:ea typeface="TT Interphases Bold"/>
                <a:cs typeface="TT Interphases Bold"/>
                <a:sym typeface="TT Interphases Bold"/>
              </a:rPr>
              <a:t>• Bar chart: Average price and availability by room type</a:t>
            </a:r>
          </a:p>
          <a:p>
            <a:pPr algn="l" marL="0" indent="0" lvl="0">
              <a:lnSpc>
                <a:spcPts val="2378"/>
              </a:lnSpc>
            </a:pPr>
            <a:r>
              <a:rPr lang="en-US" b="true" sz="1698" spc="-83">
                <a:solidFill>
                  <a:srgbClr val="000000"/>
                </a:solidFill>
                <a:latin typeface="TT Interphases Bold"/>
                <a:ea typeface="TT Interphases Bold"/>
                <a:cs typeface="TT Interphases Bold"/>
                <a:sym typeface="TT Interphases Bold"/>
              </a:rPr>
              <a:t>These visualizations highlight how location and property type are key drivers of pricing and availability trends across Airbnb listings.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660451" y="1315161"/>
            <a:ext cx="5779471" cy="4638025"/>
          </a:xfrm>
          <a:custGeom>
            <a:avLst/>
            <a:gdLst/>
            <a:ahLst/>
            <a:cxnLst/>
            <a:rect r="r" b="b" t="t" l="l"/>
            <a:pathLst>
              <a:path h="4638025" w="5779471">
                <a:moveTo>
                  <a:pt x="0" y="0"/>
                </a:moveTo>
                <a:lnTo>
                  <a:pt x="5779471" y="0"/>
                </a:lnTo>
                <a:lnTo>
                  <a:pt x="5779471" y="4638025"/>
                </a:lnTo>
                <a:lnTo>
                  <a:pt x="0" y="4638025"/>
                </a:lnTo>
                <a:lnTo>
                  <a:pt x="0" y="0"/>
                </a:lnTo>
                <a:close/>
              </a:path>
            </a:pathLst>
          </a:custGeom>
          <a:blipFill>
            <a:blip r:embed="rId4"/>
            <a:stretch>
              <a:fillRect l="0" t="0" r="0" b="0"/>
            </a:stretch>
          </a:blipFill>
        </p:spPr>
      </p:sp>
      <p:sp>
        <p:nvSpPr>
          <p:cNvPr name="TextBox 4" id="4"/>
          <p:cNvSpPr txBox="true"/>
          <p:nvPr/>
        </p:nvSpPr>
        <p:spPr>
          <a:xfrm rot="0">
            <a:off x="1028700" y="3788020"/>
            <a:ext cx="8473720" cy="2044949"/>
          </a:xfrm>
          <a:prstGeom prst="rect">
            <a:avLst/>
          </a:prstGeom>
        </p:spPr>
        <p:txBody>
          <a:bodyPr anchor="t" rtlCol="false" tIns="0" lIns="0" bIns="0" rIns="0">
            <a:spAutoFit/>
          </a:bodyPr>
          <a:lstStyle/>
          <a:p>
            <a:pPr algn="l" marL="0" indent="0" lvl="0">
              <a:lnSpc>
                <a:spcPts val="7650"/>
              </a:lnSpc>
            </a:pPr>
            <a:r>
              <a:rPr lang="en-US" sz="8793" spc="-430">
                <a:solidFill>
                  <a:srgbClr val="000000"/>
                </a:solidFill>
                <a:latin typeface="TT Interphases"/>
                <a:ea typeface="TT Interphases"/>
                <a:cs typeface="TT Interphases"/>
                <a:sym typeface="TT Interphases"/>
              </a:rPr>
              <a:t>Host Verification Analysis</a:t>
            </a:r>
          </a:p>
        </p:txBody>
      </p:sp>
      <p:sp>
        <p:nvSpPr>
          <p:cNvPr name="TextBox 5" id="5"/>
          <p:cNvSpPr txBox="true"/>
          <p:nvPr/>
        </p:nvSpPr>
        <p:spPr>
          <a:xfrm rot="0">
            <a:off x="1566219" y="1108262"/>
            <a:ext cx="2033411" cy="259399"/>
          </a:xfrm>
          <a:prstGeom prst="rect">
            <a:avLst/>
          </a:prstGeom>
        </p:spPr>
        <p:txBody>
          <a:bodyPr anchor="t" rtlCol="false" tIns="0" lIns="0" bIns="0" rIns="0">
            <a:spAutoFit/>
          </a:bodyPr>
          <a:lstStyle/>
          <a:p>
            <a:pPr algn="l" marL="0" indent="0" lvl="0">
              <a:lnSpc>
                <a:spcPts val="1825"/>
              </a:lnSpc>
            </a:pPr>
            <a:r>
              <a:rPr lang="en-US" sz="2098" spc="-102">
                <a:solidFill>
                  <a:srgbClr val="000000"/>
                </a:solidFill>
                <a:latin typeface="TT Interphases"/>
                <a:ea typeface="TT Interphases"/>
                <a:cs typeface="TT Interphases"/>
                <a:sym typeface="TT Interphases"/>
              </a:rPr>
              <a:t>Airbnb Analysis</a:t>
            </a:r>
          </a:p>
        </p:txBody>
      </p:sp>
      <p:sp>
        <p:nvSpPr>
          <p:cNvPr name="TextBox 6" id="6"/>
          <p:cNvSpPr txBox="true"/>
          <p:nvPr/>
        </p:nvSpPr>
        <p:spPr>
          <a:xfrm rot="0">
            <a:off x="1028700" y="6910705"/>
            <a:ext cx="10528681" cy="2305199"/>
          </a:xfrm>
          <a:prstGeom prst="rect">
            <a:avLst/>
          </a:prstGeom>
        </p:spPr>
        <p:txBody>
          <a:bodyPr anchor="t" rtlCol="false" tIns="0" lIns="0" bIns="0" rIns="0">
            <a:spAutoFit/>
          </a:bodyPr>
          <a:lstStyle/>
          <a:p>
            <a:pPr algn="l" marL="0" indent="0" lvl="0">
              <a:lnSpc>
                <a:spcPts val="2091"/>
              </a:lnSpc>
            </a:pPr>
            <a:r>
              <a:rPr lang="en-US" sz="1494" spc="-73">
                <a:solidFill>
                  <a:srgbClr val="000000"/>
                </a:solidFill>
                <a:latin typeface="TT Interphases"/>
                <a:ea typeface="TT Interphases"/>
                <a:cs typeface="TT Interphases"/>
                <a:sym typeface="TT Interphases"/>
              </a:rPr>
              <a:t>Unconfirmed Hosts</a:t>
            </a:r>
          </a:p>
          <a:p>
            <a:pPr algn="l" marL="0" indent="0" lvl="0">
              <a:lnSpc>
                <a:spcPts val="2091"/>
              </a:lnSpc>
            </a:pPr>
            <a:r>
              <a:rPr lang="en-US" sz="1494" spc="-73">
                <a:solidFill>
                  <a:srgbClr val="000000"/>
                </a:solidFill>
                <a:latin typeface="TT Interphases"/>
                <a:ea typeface="TT Interphases"/>
                <a:cs typeface="TT Interphases"/>
                <a:sym typeface="TT Interphases"/>
              </a:rPr>
              <a:t>Average Price: $626.63</a:t>
            </a:r>
          </a:p>
          <a:p>
            <a:pPr algn="l" marL="0" indent="0" lvl="0">
              <a:lnSpc>
                <a:spcPts val="2091"/>
              </a:lnSpc>
            </a:pPr>
            <a:r>
              <a:rPr lang="en-US" sz="1494" spc="-73">
                <a:solidFill>
                  <a:srgbClr val="000000"/>
                </a:solidFill>
                <a:latin typeface="TT Interphases"/>
                <a:ea typeface="TT Interphases"/>
                <a:cs typeface="TT Interphases"/>
                <a:sym typeface="TT Interphases"/>
              </a:rPr>
              <a:t>Average Reviews: 27.54</a:t>
            </a:r>
          </a:p>
          <a:p>
            <a:pPr algn="l" marL="0" indent="0" lvl="0">
              <a:lnSpc>
                <a:spcPts val="2091"/>
              </a:lnSpc>
            </a:pPr>
            <a:r>
              <a:rPr lang="en-US" sz="1494" spc="-73">
                <a:solidFill>
                  <a:srgbClr val="000000"/>
                </a:solidFill>
                <a:latin typeface="TT Interphases"/>
                <a:ea typeface="TT Interphases"/>
                <a:cs typeface="TT Interphases"/>
                <a:sym typeface="TT Interphases"/>
              </a:rPr>
              <a:t>Verified Hosts</a:t>
            </a:r>
          </a:p>
          <a:p>
            <a:pPr algn="l" marL="0" indent="0" lvl="0">
              <a:lnSpc>
                <a:spcPts val="2091"/>
              </a:lnSpc>
            </a:pPr>
            <a:r>
              <a:rPr lang="en-US" sz="1494" spc="-73">
                <a:solidFill>
                  <a:srgbClr val="000000"/>
                </a:solidFill>
                <a:latin typeface="TT Interphases"/>
                <a:ea typeface="TT Interphases"/>
                <a:cs typeface="TT Interphases"/>
                <a:sym typeface="TT Interphases"/>
              </a:rPr>
              <a:t>Average Price: $623.86</a:t>
            </a:r>
          </a:p>
          <a:p>
            <a:pPr algn="l" marL="0" indent="0" lvl="0">
              <a:lnSpc>
                <a:spcPts val="2091"/>
              </a:lnSpc>
            </a:pPr>
            <a:r>
              <a:rPr lang="en-US" sz="1494" spc="-73">
                <a:solidFill>
                  <a:srgbClr val="000000"/>
                </a:solidFill>
                <a:latin typeface="TT Interphases"/>
                <a:ea typeface="TT Interphases"/>
                <a:cs typeface="TT Interphases"/>
                <a:sym typeface="TT Interphases"/>
              </a:rPr>
              <a:t>Average Reviews: 27.32</a:t>
            </a:r>
          </a:p>
          <a:p>
            <a:pPr algn="l" marL="0" indent="0" lvl="0">
              <a:lnSpc>
                <a:spcPts val="2091"/>
              </a:lnSpc>
            </a:pPr>
            <a:r>
              <a:rPr lang="en-US" sz="1494" spc="-73">
                <a:solidFill>
                  <a:srgbClr val="000000"/>
                </a:solidFill>
                <a:latin typeface="TT Interphases"/>
                <a:ea typeface="TT Interphases"/>
                <a:cs typeface="TT Interphases"/>
                <a:sym typeface="TT Interphases"/>
              </a:rPr>
              <a:t>Key Finding: The differences between verified and unconfirmed hosts are remarkably small. Host verification status does not appear to have a major impact on pricing or customer review metrics, suggesting that guests do not significantly differentiate between verified and unconfirmed hosts when it comes to pricing or engagement.</a:t>
            </a:r>
          </a:p>
        </p:txBody>
      </p:sp>
      <p:sp>
        <p:nvSpPr>
          <p:cNvPr name="TextBox 7" id="7"/>
          <p:cNvSpPr txBox="true"/>
          <p:nvPr/>
        </p:nvSpPr>
        <p:spPr>
          <a:xfrm rot="0">
            <a:off x="12476510" y="6910705"/>
            <a:ext cx="4782790" cy="2305199"/>
          </a:xfrm>
          <a:prstGeom prst="rect">
            <a:avLst/>
          </a:prstGeom>
        </p:spPr>
        <p:txBody>
          <a:bodyPr anchor="t" rtlCol="false" tIns="0" lIns="0" bIns="0" rIns="0">
            <a:spAutoFit/>
          </a:bodyPr>
          <a:lstStyle/>
          <a:p>
            <a:pPr algn="l" marL="0" indent="0" lvl="0">
              <a:lnSpc>
                <a:spcPts val="2091"/>
              </a:lnSpc>
            </a:pPr>
            <a:r>
              <a:rPr lang="en-US" b="true" sz="1494" spc="-73">
                <a:solidFill>
                  <a:srgbClr val="000000"/>
                </a:solidFill>
                <a:latin typeface="TT Interphases Bold"/>
                <a:ea typeface="TT Interphases Bold"/>
                <a:cs typeface="TT Interphases Bold"/>
                <a:sym typeface="TT Interphases Bold"/>
              </a:rPr>
              <a:t>Interpretation</a:t>
            </a:r>
          </a:p>
          <a:p>
            <a:pPr algn="l" marL="0" indent="0" lvl="0">
              <a:lnSpc>
                <a:spcPts val="2091"/>
              </a:lnSpc>
            </a:pPr>
            <a:r>
              <a:rPr lang="en-US" b="true" sz="1494" spc="-73">
                <a:solidFill>
                  <a:srgbClr val="000000"/>
                </a:solidFill>
                <a:latin typeface="TT Interphases Bold"/>
                <a:ea typeface="TT Interphases Bold"/>
                <a:cs typeface="TT Interphases Bold"/>
                <a:sym typeface="TT Interphases Bold"/>
              </a:rPr>
              <a:t>The near-identical average prices ($626.63 vs $623.86) and average review counts (27.54 vs 27.32) indicate that host verification is not a strong differentiating factor in the Airbnb marketplace.</a:t>
            </a:r>
          </a:p>
          <a:p>
            <a:pPr algn="l" marL="0" indent="0" lvl="0">
              <a:lnSpc>
                <a:spcPts val="2091"/>
              </a:lnSpc>
            </a:pPr>
            <a:r>
              <a:rPr lang="en-US" b="true" sz="1494" spc="-73">
                <a:solidFill>
                  <a:srgbClr val="000000"/>
                </a:solidFill>
                <a:latin typeface="TT Interphases Bold"/>
                <a:ea typeface="TT Interphases Bold"/>
                <a:cs typeface="TT Interphases Bold"/>
                <a:sym typeface="TT Interphases Bold"/>
              </a:rPr>
              <a:t>This finding suggests that other variables — such as location, room type, and amenities — play a more significant role in determining listing performance than host verification status alone.</a:t>
            </a:r>
          </a:p>
        </p:txBody>
      </p:sp>
      <p:sp>
        <p:nvSpPr>
          <p:cNvPr name="Freeform 8" id="8"/>
          <p:cNvSpPr/>
          <p:nvPr/>
        </p:nvSpPr>
        <p:spPr>
          <a:xfrm flipH="false" flipV="false" rot="-5400000">
            <a:off x="8253798" y="-184836"/>
            <a:ext cx="969594" cy="3396666"/>
          </a:xfrm>
          <a:custGeom>
            <a:avLst/>
            <a:gdLst/>
            <a:ahLst/>
            <a:cxnLst/>
            <a:rect r="r" b="b" t="t" l="l"/>
            <a:pathLst>
              <a:path h="3396666" w="969594">
                <a:moveTo>
                  <a:pt x="0" y="0"/>
                </a:moveTo>
                <a:lnTo>
                  <a:pt x="969594" y="0"/>
                </a:lnTo>
                <a:lnTo>
                  <a:pt x="969594" y="3396666"/>
                </a:lnTo>
                <a:lnTo>
                  <a:pt x="0" y="33966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85381" y="4969956"/>
            <a:ext cx="7195906" cy="5729740"/>
          </a:xfrm>
          <a:custGeom>
            <a:avLst/>
            <a:gdLst/>
            <a:ahLst/>
            <a:cxnLst/>
            <a:rect r="r" b="b" t="t" l="l"/>
            <a:pathLst>
              <a:path h="5729740" w="7195906">
                <a:moveTo>
                  <a:pt x="0" y="0"/>
                </a:moveTo>
                <a:lnTo>
                  <a:pt x="7195905" y="0"/>
                </a:lnTo>
                <a:lnTo>
                  <a:pt x="7195905" y="5729740"/>
                </a:lnTo>
                <a:lnTo>
                  <a:pt x="0" y="5729740"/>
                </a:lnTo>
                <a:lnTo>
                  <a:pt x="0" y="0"/>
                </a:lnTo>
                <a:close/>
              </a:path>
            </a:pathLst>
          </a:custGeom>
          <a:blipFill>
            <a:blip r:embed="rId4"/>
            <a:stretch>
              <a:fillRect l="0" t="0" r="0" b="0"/>
            </a:stretch>
          </a:blipFill>
        </p:spPr>
      </p:sp>
      <p:sp>
        <p:nvSpPr>
          <p:cNvPr name="TextBox 4" id="4"/>
          <p:cNvSpPr txBox="true"/>
          <p:nvPr/>
        </p:nvSpPr>
        <p:spPr>
          <a:xfrm rot="0">
            <a:off x="1028700" y="2644660"/>
            <a:ext cx="7577855" cy="1054610"/>
          </a:xfrm>
          <a:prstGeom prst="rect">
            <a:avLst/>
          </a:prstGeom>
        </p:spPr>
        <p:txBody>
          <a:bodyPr anchor="t" rtlCol="false" tIns="0" lIns="0" bIns="0" rIns="0">
            <a:spAutoFit/>
          </a:bodyPr>
          <a:lstStyle/>
          <a:p>
            <a:pPr algn="l" marL="0" indent="0" lvl="0">
              <a:lnSpc>
                <a:spcPts val="7656"/>
              </a:lnSpc>
            </a:pPr>
            <a:r>
              <a:rPr lang="en-US" sz="8800" spc="-431">
                <a:solidFill>
                  <a:srgbClr val="000000"/>
                </a:solidFill>
                <a:latin typeface="TT Interphases"/>
                <a:ea typeface="TT Interphases"/>
                <a:cs typeface="TT Interphases"/>
                <a:sym typeface="TT Interphases"/>
              </a:rPr>
              <a:t>Key Insights</a:t>
            </a:r>
          </a:p>
        </p:txBody>
      </p:sp>
      <p:sp>
        <p:nvSpPr>
          <p:cNvPr name="TextBox 5" id="5"/>
          <p:cNvSpPr txBox="true"/>
          <p:nvPr/>
        </p:nvSpPr>
        <p:spPr>
          <a:xfrm rot="0">
            <a:off x="1566219" y="1108262"/>
            <a:ext cx="2033411" cy="259461"/>
          </a:xfrm>
          <a:prstGeom prst="rect">
            <a:avLst/>
          </a:prstGeom>
        </p:spPr>
        <p:txBody>
          <a:bodyPr anchor="t" rtlCol="false" tIns="0" lIns="0" bIns="0" rIns="0">
            <a:spAutoFit/>
          </a:bodyPr>
          <a:lstStyle/>
          <a:p>
            <a:pPr algn="l" marL="0" indent="0" lvl="0">
              <a:lnSpc>
                <a:spcPts val="1827"/>
              </a:lnSpc>
            </a:pPr>
            <a:r>
              <a:rPr lang="en-US" sz="2100" spc="-102">
                <a:solidFill>
                  <a:srgbClr val="000000"/>
                </a:solidFill>
                <a:latin typeface="TT Interphases"/>
                <a:ea typeface="TT Interphases"/>
                <a:cs typeface="TT Interphases"/>
                <a:sym typeface="TT Interphases"/>
              </a:rPr>
              <a:t>Borcelle</a:t>
            </a:r>
          </a:p>
        </p:txBody>
      </p:sp>
      <p:sp>
        <p:nvSpPr>
          <p:cNvPr name="TextBox 6" id="6"/>
          <p:cNvSpPr txBox="true"/>
          <p:nvPr/>
        </p:nvSpPr>
        <p:spPr>
          <a:xfrm rot="0">
            <a:off x="11673321" y="1487959"/>
            <a:ext cx="5585979" cy="1166495"/>
          </a:xfrm>
          <a:prstGeom prst="rect">
            <a:avLst/>
          </a:prstGeom>
        </p:spPr>
        <p:txBody>
          <a:bodyPr anchor="t" rtlCol="false" tIns="0" lIns="0" bIns="0" rIns="0">
            <a:spAutoFit/>
          </a:bodyPr>
          <a:lstStyle/>
          <a:p>
            <a:pPr algn="l" marL="0" indent="0" lvl="0">
              <a:lnSpc>
                <a:spcPts val="2380"/>
              </a:lnSpc>
            </a:pPr>
            <a:r>
              <a:rPr lang="en-US" sz="1700" spc="-83">
                <a:solidFill>
                  <a:srgbClr val="000000"/>
                </a:solidFill>
                <a:latin typeface="TT Interphases"/>
                <a:ea typeface="TT Interphases"/>
                <a:cs typeface="TT Interphases"/>
                <a:sym typeface="TT Interphases"/>
              </a:rPr>
              <a:t>102,599 total listings analyzed across 26 features. Entire home/apt is the most common room type, dominating the listing distribution. Bedford-Stuyvesant records the highest number of listings among all neighbourhoods.</a:t>
            </a:r>
          </a:p>
        </p:txBody>
      </p:sp>
      <p:sp>
        <p:nvSpPr>
          <p:cNvPr name="TextBox 7" id="7"/>
          <p:cNvSpPr txBox="true"/>
          <p:nvPr/>
        </p:nvSpPr>
        <p:spPr>
          <a:xfrm rot="0">
            <a:off x="11673321" y="1000125"/>
            <a:ext cx="1214776" cy="280670"/>
          </a:xfrm>
          <a:prstGeom prst="rect">
            <a:avLst/>
          </a:prstGeom>
        </p:spPr>
        <p:txBody>
          <a:bodyPr anchor="t" rtlCol="false" tIns="0" lIns="0" bIns="0" rIns="0">
            <a:spAutoFit/>
          </a:bodyPr>
          <a:lstStyle/>
          <a:p>
            <a:pPr algn="l" marL="0" indent="0" lvl="0">
              <a:lnSpc>
                <a:spcPts val="2380"/>
              </a:lnSpc>
            </a:pPr>
            <a:r>
              <a:rPr lang="en-US" b="true" sz="1700" spc="-83">
                <a:solidFill>
                  <a:srgbClr val="000000"/>
                </a:solidFill>
                <a:latin typeface="TT Interphases Bold"/>
                <a:ea typeface="TT Interphases Bold"/>
                <a:cs typeface="TT Interphases Bold"/>
                <a:sym typeface="TT Interphases Bold"/>
              </a:rPr>
              <a:t>Insight 01</a:t>
            </a:r>
          </a:p>
        </p:txBody>
      </p:sp>
      <p:sp>
        <p:nvSpPr>
          <p:cNvPr name="TextBox 8" id="8"/>
          <p:cNvSpPr txBox="true"/>
          <p:nvPr/>
        </p:nvSpPr>
        <p:spPr>
          <a:xfrm rot="0">
            <a:off x="11673321" y="4642245"/>
            <a:ext cx="5585979" cy="1166495"/>
          </a:xfrm>
          <a:prstGeom prst="rect">
            <a:avLst/>
          </a:prstGeom>
        </p:spPr>
        <p:txBody>
          <a:bodyPr anchor="t" rtlCol="false" tIns="0" lIns="0" bIns="0" rIns="0">
            <a:spAutoFit/>
          </a:bodyPr>
          <a:lstStyle/>
          <a:p>
            <a:pPr algn="l" marL="0" indent="0" lvl="0">
              <a:lnSpc>
                <a:spcPts val="2380"/>
              </a:lnSpc>
            </a:pPr>
            <a:r>
              <a:rPr lang="en-US" sz="1700" spc="-83">
                <a:solidFill>
                  <a:srgbClr val="000000"/>
                </a:solidFill>
                <a:latin typeface="TT Interphases"/>
                <a:ea typeface="TT Interphases"/>
                <a:cs typeface="TT Interphases"/>
                <a:sym typeface="TT Interphases"/>
              </a:rPr>
              <a:t>Queens has the highest average price among all neighbourhood groups. Hotel rooms command the highest average price among all room types and also show the highest average availability across the dataset.</a:t>
            </a:r>
          </a:p>
        </p:txBody>
      </p:sp>
      <p:sp>
        <p:nvSpPr>
          <p:cNvPr name="TextBox 9" id="9"/>
          <p:cNvSpPr txBox="true"/>
          <p:nvPr/>
        </p:nvSpPr>
        <p:spPr>
          <a:xfrm rot="0">
            <a:off x="11673321" y="4154410"/>
            <a:ext cx="1214776" cy="280670"/>
          </a:xfrm>
          <a:prstGeom prst="rect">
            <a:avLst/>
          </a:prstGeom>
        </p:spPr>
        <p:txBody>
          <a:bodyPr anchor="t" rtlCol="false" tIns="0" lIns="0" bIns="0" rIns="0">
            <a:spAutoFit/>
          </a:bodyPr>
          <a:lstStyle/>
          <a:p>
            <a:pPr algn="l" marL="0" indent="0" lvl="0">
              <a:lnSpc>
                <a:spcPts val="2380"/>
              </a:lnSpc>
            </a:pPr>
            <a:r>
              <a:rPr lang="en-US" b="true" sz="1700" spc="-83">
                <a:solidFill>
                  <a:srgbClr val="000000"/>
                </a:solidFill>
                <a:latin typeface="TT Interphases Bold"/>
                <a:ea typeface="TT Interphases Bold"/>
                <a:cs typeface="TT Interphases Bold"/>
                <a:sym typeface="TT Interphases Bold"/>
              </a:rPr>
              <a:t>Insight 02</a:t>
            </a:r>
          </a:p>
        </p:txBody>
      </p:sp>
      <p:sp>
        <p:nvSpPr>
          <p:cNvPr name="TextBox 10" id="10"/>
          <p:cNvSpPr txBox="true"/>
          <p:nvPr/>
        </p:nvSpPr>
        <p:spPr>
          <a:xfrm rot="0">
            <a:off x="11673321" y="7796530"/>
            <a:ext cx="5585979" cy="1461770"/>
          </a:xfrm>
          <a:prstGeom prst="rect">
            <a:avLst/>
          </a:prstGeom>
        </p:spPr>
        <p:txBody>
          <a:bodyPr anchor="t" rtlCol="false" tIns="0" lIns="0" bIns="0" rIns="0">
            <a:spAutoFit/>
          </a:bodyPr>
          <a:lstStyle/>
          <a:p>
            <a:pPr algn="l" marL="0" indent="0" lvl="0">
              <a:lnSpc>
                <a:spcPts val="2380"/>
              </a:lnSpc>
            </a:pPr>
            <a:r>
              <a:rPr lang="en-US" sz="1700" spc="-83">
                <a:solidFill>
                  <a:srgbClr val="000000"/>
                </a:solidFill>
                <a:latin typeface="TT Interphases"/>
                <a:ea typeface="TT Interphases"/>
                <a:cs typeface="TT Interphases"/>
                <a:sym typeface="TT Interphases"/>
              </a:rPr>
              <a:t>Host verification shows minimal impact on key metrics. Unconfirmed hosts average price: $626.63 vs. verified hosts: $623.86. Average review counts are similarly close (27.54 vs. 27.32), indicating verification status does not significantly influence pricing or engagement.</a:t>
            </a:r>
          </a:p>
        </p:txBody>
      </p:sp>
      <p:sp>
        <p:nvSpPr>
          <p:cNvPr name="TextBox 11" id="11"/>
          <p:cNvSpPr txBox="true"/>
          <p:nvPr/>
        </p:nvSpPr>
        <p:spPr>
          <a:xfrm rot="0">
            <a:off x="11673321" y="7308696"/>
            <a:ext cx="1214776" cy="280670"/>
          </a:xfrm>
          <a:prstGeom prst="rect">
            <a:avLst/>
          </a:prstGeom>
        </p:spPr>
        <p:txBody>
          <a:bodyPr anchor="t" rtlCol="false" tIns="0" lIns="0" bIns="0" rIns="0">
            <a:spAutoFit/>
          </a:bodyPr>
          <a:lstStyle/>
          <a:p>
            <a:pPr algn="l" marL="0" indent="0" lvl="0">
              <a:lnSpc>
                <a:spcPts val="2380"/>
              </a:lnSpc>
            </a:pPr>
            <a:r>
              <a:rPr lang="en-US" b="true" sz="1700" spc="-83">
                <a:solidFill>
                  <a:srgbClr val="000000"/>
                </a:solidFill>
                <a:latin typeface="TT Interphases Bold"/>
                <a:ea typeface="TT Interphases Bold"/>
                <a:cs typeface="TT Interphases Bold"/>
                <a:sym typeface="TT Interphases Bold"/>
              </a:rPr>
              <a:t>Insight 03</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63768" y="3180184"/>
            <a:ext cx="7715297" cy="7020920"/>
          </a:xfrm>
          <a:custGeom>
            <a:avLst/>
            <a:gdLst/>
            <a:ahLst/>
            <a:cxnLst/>
            <a:rect r="r" b="b" t="t" l="l"/>
            <a:pathLst>
              <a:path h="7020920" w="7715297">
                <a:moveTo>
                  <a:pt x="0" y="0"/>
                </a:moveTo>
                <a:lnTo>
                  <a:pt x="7715297" y="0"/>
                </a:lnTo>
                <a:lnTo>
                  <a:pt x="7715297" y="7020921"/>
                </a:lnTo>
                <a:lnTo>
                  <a:pt x="0" y="7020921"/>
                </a:lnTo>
                <a:lnTo>
                  <a:pt x="0" y="0"/>
                </a:lnTo>
                <a:close/>
              </a:path>
            </a:pathLst>
          </a:custGeom>
          <a:blipFill>
            <a:blip r:embed="rId4"/>
            <a:stretch>
              <a:fillRect l="0" t="0" r="0" b="0"/>
            </a:stretch>
          </a:blipFill>
        </p:spPr>
      </p:sp>
      <p:sp>
        <p:nvSpPr>
          <p:cNvPr name="Freeform 4" id="4"/>
          <p:cNvSpPr/>
          <p:nvPr/>
        </p:nvSpPr>
        <p:spPr>
          <a:xfrm flipH="true" flipV="false" rot="0">
            <a:off x="16035449" y="1028700"/>
            <a:ext cx="1223851" cy="847795"/>
          </a:xfrm>
          <a:custGeom>
            <a:avLst/>
            <a:gdLst/>
            <a:ahLst/>
            <a:cxnLst/>
            <a:rect r="r" b="b" t="t" l="l"/>
            <a:pathLst>
              <a:path h="847795" w="1223851">
                <a:moveTo>
                  <a:pt x="1223851" y="0"/>
                </a:moveTo>
                <a:lnTo>
                  <a:pt x="0" y="0"/>
                </a:lnTo>
                <a:lnTo>
                  <a:pt x="0" y="847795"/>
                </a:lnTo>
                <a:lnTo>
                  <a:pt x="1223851" y="847795"/>
                </a:lnTo>
                <a:lnTo>
                  <a:pt x="122385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0252294" y="2750290"/>
            <a:ext cx="6234058" cy="1054610"/>
          </a:xfrm>
          <a:prstGeom prst="rect">
            <a:avLst/>
          </a:prstGeom>
        </p:spPr>
        <p:txBody>
          <a:bodyPr anchor="t" rtlCol="false" tIns="0" lIns="0" bIns="0" rIns="0">
            <a:spAutoFit/>
          </a:bodyPr>
          <a:lstStyle/>
          <a:p>
            <a:pPr algn="l" marL="0" indent="0" lvl="0">
              <a:lnSpc>
                <a:spcPts val="7656"/>
              </a:lnSpc>
            </a:pPr>
            <a:r>
              <a:rPr lang="en-US" sz="8800" spc="-431">
                <a:solidFill>
                  <a:srgbClr val="000000"/>
                </a:solidFill>
                <a:latin typeface="TT Interphases"/>
                <a:ea typeface="TT Interphases"/>
                <a:cs typeface="TT Interphases"/>
                <a:sym typeface="TT Interphases"/>
              </a:rPr>
              <a:t>Conclusion</a:t>
            </a:r>
          </a:p>
        </p:txBody>
      </p:sp>
      <p:sp>
        <p:nvSpPr>
          <p:cNvPr name="TextBox 6" id="6"/>
          <p:cNvSpPr txBox="true"/>
          <p:nvPr/>
        </p:nvSpPr>
        <p:spPr>
          <a:xfrm rot="0">
            <a:off x="1566219" y="1108262"/>
            <a:ext cx="2033411" cy="259399"/>
          </a:xfrm>
          <a:prstGeom prst="rect">
            <a:avLst/>
          </a:prstGeom>
        </p:spPr>
        <p:txBody>
          <a:bodyPr anchor="t" rtlCol="false" tIns="0" lIns="0" bIns="0" rIns="0">
            <a:spAutoFit/>
          </a:bodyPr>
          <a:lstStyle/>
          <a:p>
            <a:pPr algn="l" marL="0" indent="0" lvl="0">
              <a:lnSpc>
                <a:spcPts val="1825"/>
              </a:lnSpc>
            </a:pPr>
            <a:r>
              <a:rPr lang="en-US" sz="2098" spc="-102">
                <a:solidFill>
                  <a:srgbClr val="000000"/>
                </a:solidFill>
                <a:latin typeface="TT Interphases"/>
                <a:ea typeface="TT Interphases"/>
                <a:cs typeface="TT Interphases"/>
                <a:sym typeface="TT Interphases"/>
              </a:rPr>
              <a:t>Borcelle</a:t>
            </a:r>
          </a:p>
        </p:txBody>
      </p:sp>
      <p:sp>
        <p:nvSpPr>
          <p:cNvPr name="TextBox 7" id="7"/>
          <p:cNvSpPr txBox="true"/>
          <p:nvPr/>
        </p:nvSpPr>
        <p:spPr>
          <a:xfrm rot="0">
            <a:off x="10252294" y="5720080"/>
            <a:ext cx="7007006" cy="3312588"/>
          </a:xfrm>
          <a:prstGeom prst="rect">
            <a:avLst/>
          </a:prstGeom>
        </p:spPr>
        <p:txBody>
          <a:bodyPr anchor="t" rtlCol="false" tIns="0" lIns="0" bIns="0" rIns="0">
            <a:spAutoFit/>
          </a:bodyPr>
          <a:lstStyle/>
          <a:p>
            <a:pPr algn="l" marL="0" indent="0" lvl="0">
              <a:lnSpc>
                <a:spcPts val="2216"/>
              </a:lnSpc>
            </a:pPr>
            <a:r>
              <a:rPr lang="en-US" sz="1583" spc="-77">
                <a:solidFill>
                  <a:srgbClr val="000000"/>
                </a:solidFill>
                <a:latin typeface="TT Interphases"/>
                <a:ea typeface="TT Interphases"/>
                <a:cs typeface="TT Interphases"/>
                <a:sym typeface="TT Interphases"/>
              </a:rPr>
              <a:t>Location and property type are the most influential factors in understanding Airbnb market patterns. Our analysis of 102,599 listings reveals that neighbourhood and room type together drive significant variation in pricing, availability, and customer engagement.</a:t>
            </a:r>
          </a:p>
          <a:p>
            <a:pPr algn="l" marL="0" indent="0" lvl="0">
              <a:lnSpc>
                <a:spcPts val="2216"/>
              </a:lnSpc>
            </a:pPr>
            <a:r>
              <a:rPr lang="en-US" sz="1583" spc="-77">
                <a:solidFill>
                  <a:srgbClr val="000000"/>
                </a:solidFill>
                <a:latin typeface="TT Interphases"/>
                <a:ea typeface="TT Interphases"/>
                <a:cs typeface="TT Interphases"/>
                <a:sym typeface="TT Interphases"/>
              </a:rPr>
              <a:t>Key findings demonstrate that Entire home/apt listings dominate the market, Bedford-Stuyvesant leads in listing volume, and Queens commands the highest average price among neighbourhood groups. Hotel rooms stand out with both the highest average price and availability across room types.</a:t>
            </a:r>
          </a:p>
          <a:p>
            <a:pPr algn="l" marL="0" indent="0" lvl="0">
              <a:lnSpc>
                <a:spcPts val="2216"/>
              </a:lnSpc>
            </a:pPr>
            <a:r>
              <a:rPr lang="en-US" sz="1583" spc="-77">
                <a:solidFill>
                  <a:srgbClr val="000000"/>
                </a:solidFill>
                <a:latin typeface="TT Interphases"/>
                <a:ea typeface="TT Interphases"/>
                <a:cs typeface="TT Interphases"/>
                <a:sym typeface="TT Interphases"/>
              </a:rPr>
              <a:t>Host verification status shows minimal impact on pricing or review metrics, suggesting that guests prioritise location and property type over host credentials. These insights provide a data-driven foundation for understanding the dynamics of urban short-term rental markets and can guide future decision-making for hosts, guests, and policymakers alike.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881227" y="-5576960"/>
            <a:ext cx="8076822" cy="21324942"/>
          </a:xfrm>
          <a:custGeom>
            <a:avLst/>
            <a:gdLst/>
            <a:ahLst/>
            <a:cxnLst/>
            <a:rect r="r" b="b" t="t" l="l"/>
            <a:pathLst>
              <a:path h="21324942" w="8076822">
                <a:moveTo>
                  <a:pt x="0" y="0"/>
                </a:moveTo>
                <a:lnTo>
                  <a:pt x="8076822" y="0"/>
                </a:lnTo>
                <a:lnTo>
                  <a:pt x="8076822" y="21324942"/>
                </a:lnTo>
                <a:lnTo>
                  <a:pt x="0" y="21324942"/>
                </a:lnTo>
                <a:lnTo>
                  <a:pt x="0" y="0"/>
                </a:lnTo>
                <a:close/>
              </a:path>
            </a:pathLst>
          </a:custGeom>
          <a:blipFill>
            <a:blip r:embed="rId4"/>
            <a:stretch>
              <a:fillRect l="0" t="0" r="0" b="0"/>
            </a:stretch>
          </a:blipFill>
        </p:spPr>
      </p:sp>
      <p:grpSp>
        <p:nvGrpSpPr>
          <p:cNvPr name="Group 4" id="4"/>
          <p:cNvGrpSpPr/>
          <p:nvPr/>
        </p:nvGrpSpPr>
        <p:grpSpPr>
          <a:xfrm rot="0">
            <a:off x="1028700" y="7718033"/>
            <a:ext cx="228600" cy="228600"/>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49864"/>
            </a:solidFill>
          </p:spPr>
        </p:sp>
        <p:sp>
          <p:nvSpPr>
            <p:cNvPr name="TextBox 6" id="6"/>
            <p:cNvSpPr txBox="true"/>
            <p:nvPr/>
          </p:nvSpPr>
          <p:spPr>
            <a:xfrm>
              <a:off x="76200" y="133350"/>
              <a:ext cx="660400" cy="603250"/>
            </a:xfrm>
            <a:prstGeom prst="rect">
              <a:avLst/>
            </a:prstGeom>
          </p:spPr>
          <p:txBody>
            <a:bodyPr anchor="ctr" rtlCol="false" tIns="50800" lIns="50800" bIns="50800" rIns="50800"/>
            <a:lstStyle/>
            <a:p>
              <a:pPr algn="ctr" marL="0" indent="0" lvl="0">
                <a:lnSpc>
                  <a:spcPts val="1827"/>
                </a:lnSpc>
              </a:pPr>
            </a:p>
          </p:txBody>
        </p:sp>
      </p:grpSp>
      <p:sp>
        <p:nvSpPr>
          <p:cNvPr name="TextBox 7" id="7"/>
          <p:cNvSpPr txBox="true"/>
          <p:nvPr/>
        </p:nvSpPr>
        <p:spPr>
          <a:xfrm rot="0">
            <a:off x="1028700" y="4000357"/>
            <a:ext cx="8332616" cy="1744924"/>
          </a:xfrm>
          <a:prstGeom prst="rect">
            <a:avLst/>
          </a:prstGeom>
        </p:spPr>
        <p:txBody>
          <a:bodyPr anchor="t" rtlCol="false" tIns="0" lIns="0" bIns="0" rIns="0">
            <a:spAutoFit/>
          </a:bodyPr>
          <a:lstStyle/>
          <a:p>
            <a:pPr algn="l" marL="0" indent="0" lvl="0">
              <a:lnSpc>
                <a:spcPts val="12515"/>
              </a:lnSpc>
            </a:pPr>
            <a:r>
              <a:rPr lang="en-US" sz="14385" spc="-704">
                <a:solidFill>
                  <a:srgbClr val="000000"/>
                </a:solidFill>
                <a:latin typeface="TT Interphases"/>
                <a:ea typeface="TT Interphases"/>
                <a:cs typeface="TT Interphases"/>
                <a:sym typeface="TT Interphases"/>
              </a:rPr>
              <a:t>Thank You!</a:t>
            </a:r>
          </a:p>
        </p:txBody>
      </p:sp>
      <p:sp>
        <p:nvSpPr>
          <p:cNvPr name="TextBox 8" id="8"/>
          <p:cNvSpPr txBox="true"/>
          <p:nvPr/>
        </p:nvSpPr>
        <p:spPr>
          <a:xfrm rot="0">
            <a:off x="1566219" y="1108262"/>
            <a:ext cx="2033411" cy="259399"/>
          </a:xfrm>
          <a:prstGeom prst="rect">
            <a:avLst/>
          </a:prstGeom>
        </p:spPr>
        <p:txBody>
          <a:bodyPr anchor="t" rtlCol="false" tIns="0" lIns="0" bIns="0" rIns="0">
            <a:spAutoFit/>
          </a:bodyPr>
          <a:lstStyle/>
          <a:p>
            <a:pPr algn="l" marL="0" indent="0" lvl="0">
              <a:lnSpc>
                <a:spcPts val="1825"/>
              </a:lnSpc>
            </a:pPr>
            <a:r>
              <a:rPr lang="en-US" sz="2098" spc="-102">
                <a:solidFill>
                  <a:srgbClr val="000000"/>
                </a:solidFill>
                <a:latin typeface="TT Interphases"/>
                <a:ea typeface="TT Interphases"/>
                <a:cs typeface="TT Interphases"/>
                <a:sym typeface="TT Interphases"/>
              </a:rPr>
              <a:t>Airbnb Analysis</a:t>
            </a:r>
          </a:p>
        </p:txBody>
      </p:sp>
      <p:sp>
        <p:nvSpPr>
          <p:cNvPr name="TextBox 9" id="9"/>
          <p:cNvSpPr txBox="true"/>
          <p:nvPr/>
        </p:nvSpPr>
        <p:spPr>
          <a:xfrm rot="0">
            <a:off x="1566219" y="7708508"/>
            <a:ext cx="2411694" cy="266332"/>
          </a:xfrm>
          <a:prstGeom prst="rect">
            <a:avLst/>
          </a:prstGeom>
        </p:spPr>
        <p:txBody>
          <a:bodyPr anchor="t" rtlCol="false" tIns="0" lIns="0" bIns="0" rIns="0">
            <a:spAutoFit/>
          </a:bodyPr>
          <a:lstStyle/>
          <a:p>
            <a:pPr algn="l" marL="0" indent="0" lvl="0">
              <a:lnSpc>
                <a:spcPts val="2191"/>
              </a:lnSpc>
            </a:pPr>
            <a:r>
              <a:rPr lang="en-US" sz="1698" spc="-50">
                <a:solidFill>
                  <a:srgbClr val="000000"/>
                </a:solidFill>
                <a:latin typeface="TT Interphases"/>
                <a:ea typeface="TT Interphases"/>
                <a:cs typeface="TT Interphases"/>
                <a:sym typeface="TT Interphases"/>
              </a:rPr>
              <a:t>Questions &amp; Answers</a:t>
            </a:r>
          </a:p>
        </p:txBody>
      </p:sp>
      <p:sp>
        <p:nvSpPr>
          <p:cNvPr name="TextBox 10" id="10"/>
          <p:cNvSpPr txBox="true"/>
          <p:nvPr/>
        </p:nvSpPr>
        <p:spPr>
          <a:xfrm rot="0">
            <a:off x="1566219" y="8991981"/>
            <a:ext cx="3011896" cy="266332"/>
          </a:xfrm>
          <a:prstGeom prst="rect">
            <a:avLst/>
          </a:prstGeom>
        </p:spPr>
        <p:txBody>
          <a:bodyPr anchor="t" rtlCol="false" tIns="0" lIns="0" bIns="0" rIns="0">
            <a:spAutoFit/>
          </a:bodyPr>
          <a:lstStyle/>
          <a:p>
            <a:pPr algn="l" marL="0" indent="0" lvl="0">
              <a:lnSpc>
                <a:spcPts val="2191"/>
              </a:lnSpc>
            </a:pPr>
            <a:r>
              <a:rPr lang="en-US" sz="1698" spc="-50">
                <a:solidFill>
                  <a:srgbClr val="000000"/>
                </a:solidFill>
                <a:latin typeface="TT Interphases"/>
                <a:ea typeface="TT Interphases"/>
                <a:cs typeface="TT Interphases"/>
                <a:sym typeface="TT Interphases"/>
              </a:rPr>
              <a:t>Aryan Vishwakrma</a:t>
            </a:r>
          </a:p>
        </p:txBody>
      </p:sp>
      <p:sp>
        <p:nvSpPr>
          <p:cNvPr name="TextBox 11" id="11"/>
          <p:cNvSpPr txBox="true"/>
          <p:nvPr/>
        </p:nvSpPr>
        <p:spPr>
          <a:xfrm rot="0">
            <a:off x="1566219" y="8350245"/>
            <a:ext cx="2790756" cy="266332"/>
          </a:xfrm>
          <a:prstGeom prst="rect">
            <a:avLst/>
          </a:prstGeom>
        </p:spPr>
        <p:txBody>
          <a:bodyPr anchor="t" rtlCol="false" tIns="0" lIns="0" bIns="0" rIns="0">
            <a:spAutoFit/>
          </a:bodyPr>
          <a:lstStyle/>
          <a:p>
            <a:pPr algn="l" marL="0" indent="0" lvl="0">
              <a:lnSpc>
                <a:spcPts val="2191"/>
              </a:lnSpc>
            </a:pPr>
            <a:r>
              <a:rPr lang="en-US" sz="1698" spc="-50">
                <a:solidFill>
                  <a:srgbClr val="000000"/>
                </a:solidFill>
                <a:latin typeface="TT Interphases"/>
                <a:ea typeface="TT Interphases"/>
                <a:cs typeface="TT Interphases"/>
                <a:sym typeface="TT Interphases"/>
              </a:rPr>
              <a:t>VOIS </a:t>
            </a:r>
          </a:p>
        </p:txBody>
      </p:sp>
      <p:grpSp>
        <p:nvGrpSpPr>
          <p:cNvPr name="Group 12" id="12"/>
          <p:cNvGrpSpPr/>
          <p:nvPr/>
        </p:nvGrpSpPr>
        <p:grpSpPr>
          <a:xfrm rot="0">
            <a:off x="1028700" y="8373867"/>
            <a:ext cx="228600" cy="2286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79E3"/>
            </a:solidFill>
          </p:spPr>
        </p:sp>
        <p:sp>
          <p:nvSpPr>
            <p:cNvPr name="TextBox 14" id="14"/>
            <p:cNvSpPr txBox="true"/>
            <p:nvPr/>
          </p:nvSpPr>
          <p:spPr>
            <a:xfrm>
              <a:off x="76200" y="133350"/>
              <a:ext cx="660400" cy="603250"/>
            </a:xfrm>
            <a:prstGeom prst="rect">
              <a:avLst/>
            </a:prstGeom>
          </p:spPr>
          <p:txBody>
            <a:bodyPr anchor="ctr" rtlCol="false" tIns="50800" lIns="50800" bIns="50800" rIns="50800"/>
            <a:lstStyle/>
            <a:p>
              <a:pPr algn="ctr" marL="0" indent="0" lvl="0">
                <a:lnSpc>
                  <a:spcPts val="1827"/>
                </a:lnSpc>
              </a:pPr>
            </a:p>
          </p:txBody>
        </p:sp>
      </p:grpSp>
      <p:grpSp>
        <p:nvGrpSpPr>
          <p:cNvPr name="Group 15" id="15"/>
          <p:cNvGrpSpPr/>
          <p:nvPr/>
        </p:nvGrpSpPr>
        <p:grpSpPr>
          <a:xfrm rot="0">
            <a:off x="1028700" y="9029700"/>
            <a:ext cx="228600" cy="22860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9842"/>
            </a:solidFill>
          </p:spPr>
        </p:sp>
        <p:sp>
          <p:nvSpPr>
            <p:cNvPr name="TextBox 17" id="17"/>
            <p:cNvSpPr txBox="true"/>
            <p:nvPr/>
          </p:nvSpPr>
          <p:spPr>
            <a:xfrm>
              <a:off x="76200" y="133350"/>
              <a:ext cx="660400" cy="603250"/>
            </a:xfrm>
            <a:prstGeom prst="rect">
              <a:avLst/>
            </a:prstGeom>
          </p:spPr>
          <p:txBody>
            <a:bodyPr anchor="ctr" rtlCol="false" tIns="50800" lIns="50800" bIns="50800" rIns="50800"/>
            <a:lstStyle/>
            <a:p>
              <a:pPr algn="ctr" marL="0" indent="0" lvl="0">
                <a:lnSpc>
                  <a:spcPts val="1827"/>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DAHTrlVHQk8</dc:identifier>
  <dcterms:modified xsi:type="dcterms:W3CDTF">2011-08-01T06:04:30Z</dcterms:modified>
  <cp:revision>1</cp:revision>
  <dc:title>Airbnb Data Analysis: Pricing, Availability, and Listings Insights</dc:title>
</cp:coreProperties>
</file>